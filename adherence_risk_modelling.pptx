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822960"/>
            <a:ext cx="2560320" cy="256032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-365760"/>
            <a:ext cx="1645920" cy="164592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384048"/>
            <a:ext cx="2011680" cy="292608"/>
          </a:xfrm>
          <a:prstGeom prst="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84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PHARMACY2U · 2024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Adherence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Modelling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Predicting late refills from CMS dispensing history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using XGBoost + SHAP Explainability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3154680"/>
            <a:ext cx="1737360" cy="1371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3154680"/>
            <a:ext cx="91440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46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0.779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38221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PR-AUC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Primary metric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3154680"/>
            <a:ext cx="1737360" cy="1371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31720" y="3154680"/>
            <a:ext cx="91440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3246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0.610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68880" y="38221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ROC-AUC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Discrimination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51960" y="3154680"/>
            <a:ext cx="1737360" cy="1371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3154680"/>
            <a:ext cx="91440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3246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0.768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389120" y="38221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F1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0" y="4114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Tuned XGBoost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3154680"/>
            <a:ext cx="2651760" cy="13716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5.5M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Prescription Events
</a:t>
            </a:r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112K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Patients
</a:t>
            </a:r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Synthetic CMS SynPUF · 2008–2010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For operational use only · Not clinical advice · Synthetic CMS data (SynPUF)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45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Problem, Dataset &amp; Label Engineering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023360" cy="1097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02336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🎯  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Non-adherence costs the NHS billions annually. Goal: predict whether a patient will be LATE filling their next prescription — early enough to trigger a proactive reminder.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95728"/>
            <a:ext cx="402336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487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📦  Dataset — CMS SynPUF (Synthetic CMS Data)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880360"/>
          <a:ext cx="3840480" cy="155448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640080"/>
                <a:gridCol w="118872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PDE (fills)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5,552,421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2008–2010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Beneficiary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112,754 pts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 conditions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Merged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5,552,421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joined on 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26280" y="1170432"/>
            <a:ext cx="4343400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1170432"/>
            <a:ext cx="43434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1261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🏷  Label Engineering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1645920"/>
            <a:ext cx="402336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1645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late_refill = 1  if  next_fill_date  &gt;  expected_runout  +  7 days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63440" y="22677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Class Distribution (heavily imbalanced)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2578608"/>
            <a:ext cx="3749040" cy="2743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Shape 17"/>
          <p:cNvSpPr/>
          <p:nvPr/>
        </p:nvSpPr>
        <p:spPr>
          <a:xfrm>
            <a:off x="4663440" y="2578608"/>
            <a:ext cx="3422874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8"/>
          <p:cNvSpPr/>
          <p:nvPr/>
        </p:nvSpPr>
        <p:spPr>
          <a:xfrm>
            <a:off x="4709160" y="2587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Late  91.3%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498080" y="2587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On-time 8.7%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2990088"/>
            <a:ext cx="4023360" cy="530352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30266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7-day grace: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54880" y="3209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pharmacy delays, weekends &amp; postal windows mean on-time patients can arrive up to 7 days after runout. Avoids false positives.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663440" y="3602736"/>
            <a:ext cx="4023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36393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Time split: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5488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Train ≤ 2009-12-31 | Test &gt; 2009-12-31. Prevents data leakage — model never sees future fills during training.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63440" y="4215384"/>
            <a:ext cx="4023360" cy="530352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0" y="4251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Imbalance fix: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5488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scale_pos_weight in XGBoost up-weights the minority (on-time) class so the model learns both patterns.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45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Feature Engineering — 4 Groups + Day 2 Enhancements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6052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160520" cy="36576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070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 Demographics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age_years (from DOB)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BENE_SEX_IDENT_CD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BENE_RACE_CD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416052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70432"/>
            <a:ext cx="4160520" cy="365760"/>
          </a:xfrm>
          <a:prstGeom prst="rect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2070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🏥  Chronic Conditions (11 SP_ flags)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609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SP_ALZHDMTA, SP_CHF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9568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SP_DIABETES, SP_COPD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304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SP_CNCR, SP_RA_OA + more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416052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99232"/>
            <a:ext cx="4160520" cy="365760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0358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Refill Behaviour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438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n_prior_fills, gap_prev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785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avg_gap_hist (expanding mean)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133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gap_var_3 · early_refill 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999232"/>
            <a:ext cx="416052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99232"/>
            <a:ext cx="4160520" cy="365760"/>
          </a:xfrm>
          <a:prstGeom prst="rect">
            <a:avLst/>
          </a:prstGeom>
          <a:solidFill>
            <a:srgbClr val="14B8A6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30358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💊  Cost &amp; Polypharmacy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438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PTNT_PAY_AMT, TOT_RX_CST_AMT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785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n_distinct_drugs_patient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133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poly_90d (rolling 90d) 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★ Day 2 features   ·   Total features in final model: ~27   (Day 1: 20 | Day 2: +7)   ·   PR-AUC improved 0.753 → 0.779 (+3.5%) after Day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50474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45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Modelling &amp; Validation Strategy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005840"/>
                <a:gridCol w="73152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PR-AUC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Why Used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Logistic Regression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0.749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Baseline — linear, interpretable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XGBoost (base)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0.597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0.776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Non-linear, handles imbalance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XGBoost Tuned 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0.779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0.611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0.768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D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n_est=400, depth=5, lr=0.05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D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</a:rPr>
                        <a:t>+ Calibrated (isotonic)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0.728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0.550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0.838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Prob calibration — threshold ops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090672"/>
            <a:ext cx="4160520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3090672"/>
            <a:ext cx="4160520" cy="347472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84048" y="3118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PR-AUC, not ROC-AUC?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3511296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With 91% of rows labelled 'late', ROC-AUC can look good for a model that always predicts the majority class. PR-AUC (Precision-Recall) focuses on the minority (on-time) class and gives a more honest picture of performance on imbalanced problems. XGBoost Tuned reaches 0.779 — a meaningful step above the logistic baseline.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3090672"/>
            <a:ext cx="4160520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3090672"/>
            <a:ext cx="4160520" cy="347472"/>
          </a:xfrm>
          <a:prstGeom prst="rect">
            <a:avLst/>
          </a:prstGeom>
          <a:solidFill>
            <a:srgbClr val="F97316">
              <a:alpha val="9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818888" y="3118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Validation: Time-Based Split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18888" y="3511296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Train on fills ≤ 2009-12-31, test on fills &gt; 2009-12-31. This mirrors production: the model will always be asked to predict future fills from past history. Random splits would leak future data into training and inflate scores. Time-split gives an honest, deployable estimate of performance.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45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Results, Explainability &amp; Caveats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Top SHAP Features (% importance)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636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DAYS_SUPLY_NUM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74520" y="1563624"/>
            <a:ext cx="2560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5636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14.1%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SP_OSTEOPRS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74520" y="1965960"/>
            <a:ext cx="1053181" cy="2560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2973421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5.8%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3682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SP_COPD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74520" y="2368296"/>
            <a:ext cx="980548" cy="2560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2900788" y="23682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</a:rPr>
              <a:t>5.4%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2770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SP_RA_OA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74520" y="2770632"/>
            <a:ext cx="962390" cy="2560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2882630" y="2770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</a:rPr>
              <a:t>5.3%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3172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SP_ALZHDMTA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74520" y="3172968"/>
            <a:ext cx="944231" cy="2560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2864471" y="31729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5.2%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4320" y="35753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age_years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74520" y="3575304"/>
            <a:ext cx="853440" cy="2560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2773680" y="35753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4.7%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PTNT_PAY_AMT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74520" y="3977640"/>
            <a:ext cx="726332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2646572" y="39776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4%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4379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adherence_score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74520" y="4379976"/>
            <a:ext cx="708174" cy="2560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2628414" y="43799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3.9%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4736592"/>
            <a:ext cx="4160520" cy="256032"/>
          </a:xfrm>
          <a:prstGeom prst="rect">
            <a:avLst/>
          </a:prstGeom>
          <a:solidFill>
            <a:srgbClr val="0D9488">
              <a:alpha val="7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7365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SHAP waterfall shows per-patient explanation · DAYS_SUPLY_NUM top driver — longer supply = lower adherence window pressure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63440" y="11155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Known Caveats &amp; Next Steps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1508760"/>
            <a:ext cx="4206240" cy="594360"/>
          </a:xfrm>
          <a:prstGeom prst="rect">
            <a:avLst/>
          </a:prstGeom>
          <a:solidFill>
            <a:srgbClr val="1E3A5F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73168" y="15361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⚠️  ROC-AUC vs PR-AUC disconnect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3168" y="17830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ROC-AUC of 0.57 (near random) while PR-AUC = 0.78. Model struggles to rank on-time patients precisely — a known challenge for 91% majority class.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2194560"/>
            <a:ext cx="4206240" cy="594360"/>
          </a:xfrm>
          <a:prstGeom prst="rect">
            <a:avLst/>
          </a:prstGeom>
          <a:solidFill>
            <a:srgbClr val="1E3A5F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73168" y="22219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❓  Label validity — 91% late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73168" y="2468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Real-world adherence is 50–80%. 91.3% may reflect too-tight grace period or CMS high-risk population. Explore 14-day grace.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2880360"/>
            <a:ext cx="4206240" cy="594360"/>
          </a:xfrm>
          <a:prstGeom prst="rect">
            <a:avLst/>
          </a:prstGeom>
          <a:solidFill>
            <a:srgbClr val="1E3A5F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73168" y="29077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⚠️  Calibrated model always predicts late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73168" y="3154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Isotonic calibration achieved Recall=1.0 / F1=0.84 by predicting every patient as late. Operationally useless — do not deploy calibrated version as classifier.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3566160"/>
            <a:ext cx="4206240" cy="594360"/>
          </a:xfrm>
          <a:prstGeom prst="rect">
            <a:avLst/>
          </a:prstGeom>
          <a:solidFill>
            <a:srgbClr val="1E3A5F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73168" y="35935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💡  NDC codes not normalised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73168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Same drug in 30-tab vs 90-tab packs has different NDC. Strip last 2 digits &amp; group by drug class to improve gap calculations.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4251960"/>
            <a:ext cx="4206240" cy="594360"/>
          </a:xfrm>
          <a:prstGeom prst="rect">
            <a:avLst/>
          </a:prstGeom>
          <a:solidFill>
            <a:srgbClr val="1E3A5F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73168" y="42793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🔜  Next steps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73168" y="4526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Threshold optimisation on PR curve · SHAP partial dependence on DAYS_SUPLY_NUM · Survival model for time-to-refill · A/B test outreach triggers.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29600" y="50474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Slide 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Prescription Adherence Risk Modelling</dc:title>
  <dc:subject>PptxGenJS Presentation</dc:subject>
  <dc:creator>PptxGenJS</dc:creator>
  <cp:lastModifiedBy>PptxGenJS</cp:lastModifiedBy>
  <cp:revision>1</cp:revision>
  <dcterms:created xsi:type="dcterms:W3CDTF">2026-03-31T10:35:26Z</dcterms:created>
  <dcterms:modified xsi:type="dcterms:W3CDTF">2026-03-31T10:35:26Z</dcterms:modified>
</cp:coreProperties>
</file>