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tags" Target="../tags/tag1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image" Target="../media/image4.svg"/><Relationship Id="rId17" Type="http://schemas.openxmlformats.org/officeDocument/2006/relationships/image" Target="../media/image3.png"/><Relationship Id="rId16" Type="http://schemas.openxmlformats.org/officeDocument/2006/relationships/tags" Target="../tags/tag13.xml"/><Relationship Id="rId15" Type="http://schemas.openxmlformats.org/officeDocument/2006/relationships/image" Target="../media/image2.svg"/><Relationship Id="rId14" Type="http://schemas.openxmlformats.org/officeDocument/2006/relationships/image" Target="../media/image1.png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41.xml"/><Relationship Id="rId19" Type="http://schemas.openxmlformats.org/officeDocument/2006/relationships/tags" Target="../tags/tag54.xml"/><Relationship Id="rId18" Type="http://schemas.openxmlformats.org/officeDocument/2006/relationships/image" Target="../media/image7.svg"/><Relationship Id="rId17" Type="http://schemas.openxmlformats.org/officeDocument/2006/relationships/image" Target="../media/image3.png"/><Relationship Id="rId16" Type="http://schemas.openxmlformats.org/officeDocument/2006/relationships/tags" Target="../tags/tag53.xml"/><Relationship Id="rId15" Type="http://schemas.openxmlformats.org/officeDocument/2006/relationships/image" Target="../media/image6.svg"/><Relationship Id="rId14" Type="http://schemas.openxmlformats.org/officeDocument/2006/relationships/image" Target="../media/image5.png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0" Type="http://schemas.openxmlformats.org/officeDocument/2006/relationships/tags" Target="../tags/tag125.xml"/><Relationship Id="rId2" Type="http://schemas.openxmlformats.org/officeDocument/2006/relationships/tags" Target="../tags/tag111.xml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image" Target="../media/image4.svg"/><Relationship Id="rId12" Type="http://schemas.openxmlformats.org/officeDocument/2006/relationships/image" Target="../media/image3.png"/><Relationship Id="rId11" Type="http://schemas.openxmlformats.org/officeDocument/2006/relationships/tags" Target="../tags/tag118.xml"/><Relationship Id="rId10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5329714" y="2184083"/>
            <a:ext cx="1322546" cy="132254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89000">
                <a:schemeClr val="accent1">
                  <a:lumMod val="40000"/>
                  <a:lumOff val="60000"/>
                  <a:alpha val="60000"/>
                </a:schemeClr>
              </a:gs>
            </a:gsLst>
            <a:lin ang="15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sym typeface="+mn-lt"/>
            </a:endParaRPr>
          </a:p>
        </p:txBody>
      </p:sp>
      <p:sp>
        <p:nvSpPr>
          <p:cNvPr id="16" name="矩形: 圆顶角 12"/>
          <p:cNvSpPr/>
          <p:nvPr>
            <p:custDataLst>
              <p:tags r:id="rId4"/>
            </p:custDataLst>
          </p:nvPr>
        </p:nvSpPr>
        <p:spPr>
          <a:xfrm rot="18900000" flipH="1">
            <a:off x="1749743" y="899636"/>
            <a:ext cx="1484948" cy="2764155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</a:endParaRPr>
          </a:p>
        </p:txBody>
      </p:sp>
      <p:sp>
        <p:nvSpPr>
          <p:cNvPr id="15" name="矩形: 圆顶角 13"/>
          <p:cNvSpPr/>
          <p:nvPr>
            <p:custDataLst>
              <p:tags r:id="rId5"/>
            </p:custDataLst>
          </p:nvPr>
        </p:nvSpPr>
        <p:spPr>
          <a:xfrm rot="8100000" flipH="1">
            <a:off x="1527810" y="1786890"/>
            <a:ext cx="1484948" cy="2802731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14" name="任意多边形: 形状 11"/>
          <p:cNvSpPr/>
          <p:nvPr>
            <p:custDataLst>
              <p:tags r:id="rId6"/>
            </p:custDataLst>
          </p:nvPr>
        </p:nvSpPr>
        <p:spPr>
          <a:xfrm flipH="1">
            <a:off x="7649050" y="0"/>
            <a:ext cx="1117760" cy="630556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7"/>
            </p:custDataLst>
          </p:nvPr>
        </p:nvCxnSpPr>
        <p:spPr>
          <a:xfrm>
            <a:off x="858679" y="451009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8"/>
            </p:custDataLst>
          </p:nvPr>
        </p:nvCxnSpPr>
        <p:spPr>
          <a:xfrm>
            <a:off x="858679" y="494824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9"/>
            </p:custDataLst>
          </p:nvPr>
        </p:nvCxnSpPr>
        <p:spPr>
          <a:xfrm>
            <a:off x="858679" y="538639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7990999" y="4689158"/>
            <a:ext cx="80963" cy="809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8176736" y="4689158"/>
            <a:ext cx="80963" cy="8096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7805261" y="4689158"/>
            <a:ext cx="80963" cy="8096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7" name="图片 56" descr="箭头 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9656" y="4672013"/>
            <a:ext cx="115253" cy="115253"/>
          </a:xfrm>
          <a:prstGeom prst="rect">
            <a:avLst/>
          </a:prstGeom>
        </p:spPr>
      </p:pic>
      <p:pic>
        <p:nvPicPr>
          <p:cNvPr id="58" name="图片 57" descr="箭头 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858679" y="4672013"/>
            <a:ext cx="115253" cy="115253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19"/>
            </p:custDataLst>
          </p:nvPr>
        </p:nvSpPr>
        <p:spPr>
          <a:xfrm>
            <a:off x="3345065" y="437891"/>
            <a:ext cx="5043604" cy="65767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650" b="1" i="0" u="none" strike="noStrike" kern="1200" cap="none" spc="0" normalizeH="0" baseline="0" noProof="1" dirty="0">
                <a:gradFill>
                  <a:gsLst>
                    <a:gs pos="7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7800000" scaled="0"/>
                </a:gradFill>
                <a:latin typeface="+mj-lt"/>
              </a:defRPr>
            </a:lvl1pPr>
          </a:lstStyle>
          <a:p>
            <a:pPr lvl="0" algn="r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20"/>
            </p:custDataLst>
          </p:nvPr>
        </p:nvSpPr>
        <p:spPr>
          <a:xfrm>
            <a:off x="3345180" y="1171289"/>
            <a:ext cx="5043488" cy="25149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900" b="1" i="0" u="none" strike="noStrike" kern="1200" cap="none" spc="0" normalizeH="0" baseline="0" noProof="1" dirty="0">
                <a:gradFill>
                  <a:gsLst>
                    <a:gs pos="20000">
                      <a:schemeClr val="accent2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r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1" name="署名占位符 10"/>
          <p:cNvSpPr>
            <a:spLocks noGrp="1"/>
          </p:cNvSpPr>
          <p:nvPr>
            <p:ph type="body" sz="quarter" idx="17" hasCustomPrompt="1"/>
            <p:custDataLst>
              <p:tags r:id="rId24"/>
            </p:custDataLst>
          </p:nvPr>
        </p:nvSpPr>
        <p:spPr>
          <a:xfrm>
            <a:off x="6930668" y="3788649"/>
            <a:ext cx="1458000" cy="34295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2" name="正文"/>
          <p:cNvSpPr txBox="1">
            <a:spLocks noGrp="1"/>
          </p:cNvSpPr>
          <p:nvPr>
            <p:ph idx="6" hasCustomPrompt="1"/>
            <p:custDataLst>
              <p:tags r:id="rId3"/>
            </p:custDataLst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defPPr>
              <a:defRPr lang="en-US">
                <a:latin typeface="+mn-lt"/>
              </a:defRPr>
            </a:defPPr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+mn-ea"/>
              </a:defRPr>
            </a:lvl1pPr>
            <a:lvl2pPr marL="337185" marR="0" lvl="1" indent="-17399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2pPr>
            <a:lvl3pPr marL="539750" marR="0" lvl="2" indent="-20701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3pPr>
            <a:lvl4pPr marL="740410" marR="0" lvl="3" indent="-1968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tabLst>
                <a:tab pos="899795" algn="l"/>
              </a:tabLst>
              <a:defRPr kumimoji="0" sz="105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4pPr>
            <a:lvl5pPr marL="942340" marR="0" lvl="4" indent="-1968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ln>
                  <a:noFill/>
                  <a:prstDash val="sysDot"/>
                </a:ln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5" hasCustomPrompt="1"/>
            <p:custDataLst>
              <p:tags r:id="rId4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8229124" y="579120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6"/>
            </p:custDataLst>
          </p:nvPr>
        </p:nvCxnSpPr>
        <p:spPr>
          <a:xfrm>
            <a:off x="8229124" y="635318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7"/>
            </p:custDataLst>
          </p:nvPr>
        </p:nvCxnSpPr>
        <p:spPr>
          <a:xfrm>
            <a:off x="8229124" y="691039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顶角 12"/>
          <p:cNvSpPr/>
          <p:nvPr>
            <p:custDataLst>
              <p:tags r:id="rId8"/>
            </p:custDataLst>
          </p:nvPr>
        </p:nvSpPr>
        <p:spPr>
          <a:xfrm rot="16200000" flipH="1">
            <a:off x="2233613" y="-836771"/>
            <a:ext cx="57150" cy="345519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9" name="任意多边形: 形状 4"/>
          <p:cNvSpPr/>
          <p:nvPr>
            <p:custDataLst>
              <p:tags r:id="rId3"/>
            </p:custDataLst>
          </p:nvPr>
        </p:nvSpPr>
        <p:spPr>
          <a:xfrm flipH="1">
            <a:off x="7706676" y="0"/>
            <a:ext cx="1117760" cy="630556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858679" y="451009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5"/>
            </p:custDataLst>
          </p:nvPr>
        </p:nvCxnSpPr>
        <p:spPr>
          <a:xfrm>
            <a:off x="858679" y="494824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858679" y="538639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顶角 12"/>
          <p:cNvSpPr/>
          <p:nvPr>
            <p:custDataLst>
              <p:tags r:id="rId7"/>
            </p:custDataLst>
          </p:nvPr>
        </p:nvSpPr>
        <p:spPr>
          <a:xfrm rot="16200000" flipH="1">
            <a:off x="1313498" y="1807845"/>
            <a:ext cx="1283494" cy="238839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</a:endParaRPr>
          </a:p>
        </p:txBody>
      </p:sp>
      <p:sp>
        <p:nvSpPr>
          <p:cNvPr id="18" name="矩形: 圆顶角 13"/>
          <p:cNvSpPr/>
          <p:nvPr>
            <p:custDataLst>
              <p:tags r:id="rId8"/>
            </p:custDataLst>
          </p:nvPr>
        </p:nvSpPr>
        <p:spPr>
          <a:xfrm rot="5400000" flipH="1">
            <a:off x="1564958" y="2390299"/>
            <a:ext cx="1283494" cy="2421731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1304448" y="800576"/>
            <a:ext cx="3393448" cy="68056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50" b="1" i="0" u="none" strike="noStrike" kern="1200" cap="none" spc="0" normalizeH="0" baseline="0" noProof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5419725" y="2215991"/>
            <a:ext cx="1322546" cy="132254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89000">
                <a:schemeClr val="accent1">
                  <a:lumMod val="40000"/>
                  <a:lumOff val="60000"/>
                  <a:alpha val="60000"/>
                </a:schemeClr>
              </a:gs>
            </a:gsLst>
            <a:lin ang="15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sym typeface="+mn-lt"/>
            </a:endParaRPr>
          </a:p>
        </p:txBody>
      </p:sp>
      <p:sp>
        <p:nvSpPr>
          <p:cNvPr id="15" name="矩形: 圆顶角 12"/>
          <p:cNvSpPr/>
          <p:nvPr>
            <p:custDataLst>
              <p:tags r:id="rId4"/>
            </p:custDataLst>
          </p:nvPr>
        </p:nvSpPr>
        <p:spPr>
          <a:xfrm flipH="1">
            <a:off x="2112169" y="1087755"/>
            <a:ext cx="1420178" cy="2643188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5"/>
            </p:custDataLst>
          </p:nvPr>
        </p:nvSpPr>
        <p:spPr>
          <a:xfrm rot="10800000" flipH="1">
            <a:off x="1425416" y="1429703"/>
            <a:ext cx="1420178" cy="267985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95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13" name="任意多边形: 形状 9"/>
          <p:cNvSpPr/>
          <p:nvPr>
            <p:custDataLst>
              <p:tags r:id="rId6"/>
            </p:custDataLst>
          </p:nvPr>
        </p:nvSpPr>
        <p:spPr>
          <a:xfrm flipH="1">
            <a:off x="7617617" y="0"/>
            <a:ext cx="1117760" cy="630556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7"/>
            </p:custDataLst>
          </p:nvPr>
        </p:nvCxnSpPr>
        <p:spPr>
          <a:xfrm>
            <a:off x="858679" y="451009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8"/>
            </p:custDataLst>
          </p:nvPr>
        </p:nvCxnSpPr>
        <p:spPr>
          <a:xfrm>
            <a:off x="858679" y="494824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>
            <a:off x="858679" y="538639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7761446" y="4689158"/>
            <a:ext cx="80963" cy="8096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7947184" y="4689158"/>
            <a:ext cx="80963" cy="8096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7575709" y="4689158"/>
            <a:ext cx="80963" cy="8096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7" name="图片 56" descr="箭头 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9656" y="4672013"/>
            <a:ext cx="115253" cy="115253"/>
          </a:xfrm>
          <a:prstGeom prst="rect">
            <a:avLst/>
          </a:prstGeom>
        </p:spPr>
      </p:pic>
      <p:pic>
        <p:nvPicPr>
          <p:cNvPr id="58" name="图片 57" descr="箭头 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flipH="1">
            <a:off x="858679" y="4672013"/>
            <a:ext cx="115253" cy="115253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9"/>
            </p:custDataLst>
          </p:nvPr>
        </p:nvSpPr>
        <p:spPr>
          <a:xfrm>
            <a:off x="3532346" y="2159318"/>
            <a:ext cx="4693444" cy="25122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500" b="1" i="0" u="none" strike="noStrike" kern="1200" cap="none" spc="0" normalizeH="0" baseline="0" noProof="1" dirty="0">
                <a:gradFill>
                  <a:gsLst>
                    <a:gs pos="20000">
                      <a:schemeClr val="accent2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r"/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1" hasCustomPrompt="1"/>
            <p:custDataLst>
              <p:tags r:id="rId20"/>
            </p:custDataLst>
          </p:nvPr>
        </p:nvSpPr>
        <p:spPr>
          <a:xfrm>
            <a:off x="4679156" y="1239203"/>
            <a:ext cx="3546634" cy="86391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3300" b="0" i="0" u="none" strike="noStrike" kern="1200" cap="none" spc="0" normalizeH="0" baseline="0" noProof="1" dirty="0">
                <a:gradFill>
                  <a:gsLst>
                    <a:gs pos="700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7800000" scaled="0"/>
                </a:gradFill>
                <a:latin typeface="+mn-lt"/>
              </a:defRPr>
            </a:lvl1pPr>
          </a:lstStyle>
          <a:p>
            <a:pPr lvl="0" algn="r">
              <a:lnSpc>
                <a:spcPct val="120000"/>
              </a:lnSpc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1" name="正文"/>
          <p:cNvSpPr txBox="1">
            <a:spLocks noGrp="1"/>
          </p:cNvSpPr>
          <p:nvPr>
            <p:ph idx="7" hasCustomPrompt="1"/>
            <p:custDataLst>
              <p:tags r:id="rId3"/>
            </p:custDataLst>
          </p:nvPr>
        </p:nvSpPr>
        <p:spPr>
          <a:xfrm>
            <a:off x="4800604" y="111776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6" hasCustomPrompt="1"/>
            <p:custDataLst>
              <p:tags r:id="rId4"/>
            </p:custDataLst>
          </p:nvPr>
        </p:nvSpPr>
        <p:spPr>
          <a:xfrm>
            <a:off x="456300" y="1117768"/>
            <a:ext cx="3882600" cy="35694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5" hasCustomPrompt="1"/>
            <p:custDataLst>
              <p:tags r:id="rId5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矩形: 圆顶角 12"/>
          <p:cNvSpPr/>
          <p:nvPr>
            <p:custDataLst>
              <p:tags r:id="rId6"/>
            </p:custDataLst>
          </p:nvPr>
        </p:nvSpPr>
        <p:spPr>
          <a:xfrm rot="16200000" flipH="1">
            <a:off x="2233613" y="-836771"/>
            <a:ext cx="57150" cy="345519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</a:endParaRPr>
          </a:p>
        </p:txBody>
      </p: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8229124" y="579120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8"/>
            </p:custDataLst>
          </p:nvPr>
        </p:nvCxnSpPr>
        <p:spPr>
          <a:xfrm>
            <a:off x="8229124" y="635318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9"/>
            </p:custDataLst>
          </p:nvPr>
        </p:nvCxnSpPr>
        <p:spPr>
          <a:xfrm>
            <a:off x="8229124" y="691039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8" name="正文"/>
          <p:cNvSpPr txBox="1">
            <a:spLocks noGrp="1"/>
          </p:cNvSpPr>
          <p:nvPr>
            <p:ph idx="9" hasCustomPrompt="1"/>
            <p:custDataLst>
              <p:tags r:id="rId3"/>
            </p:custDataLst>
          </p:nvPr>
        </p:nvSpPr>
        <p:spPr>
          <a:xfrm>
            <a:off x="4676400" y="139050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8" hasCustomPrompt="1"/>
            <p:custDataLst>
              <p:tags r:id="rId4"/>
            </p:custDataLst>
          </p:nvPr>
        </p:nvSpPr>
        <p:spPr>
          <a:xfrm>
            <a:off x="4676400" y="1071900"/>
            <a:ext cx="4006800" cy="30008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7" hasCustomPrompt="1"/>
            <p:custDataLst>
              <p:tags r:id="rId5"/>
            </p:custDataLst>
          </p:nvPr>
        </p:nvSpPr>
        <p:spPr>
          <a:xfrm>
            <a:off x="456300" y="1390500"/>
            <a:ext cx="40068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6" hasCustomPrompt="1"/>
            <p:custDataLst>
              <p:tags r:id="rId6"/>
            </p:custDataLst>
          </p:nvPr>
        </p:nvSpPr>
        <p:spPr>
          <a:xfrm>
            <a:off x="456300" y="1071900"/>
            <a:ext cx="4006800" cy="30008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5" hasCustomPrompt="1"/>
            <p:custDataLst>
              <p:tags r:id="rId7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矩形: 圆顶角 12"/>
          <p:cNvSpPr/>
          <p:nvPr>
            <p:custDataLst>
              <p:tags r:id="rId8"/>
            </p:custDataLst>
          </p:nvPr>
        </p:nvSpPr>
        <p:spPr>
          <a:xfrm rot="16200000" flipH="1">
            <a:off x="2233613" y="-836771"/>
            <a:ext cx="57150" cy="345519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</a:endParaRPr>
          </a:p>
        </p:txBody>
      </p:sp>
      <p:cxnSp>
        <p:nvCxnSpPr>
          <p:cNvPr id="15" name="直接连接符 14"/>
          <p:cNvCxnSpPr/>
          <p:nvPr>
            <p:custDataLst>
              <p:tags r:id="rId9"/>
            </p:custDataLst>
          </p:nvPr>
        </p:nvCxnSpPr>
        <p:spPr>
          <a:xfrm>
            <a:off x="8229124" y="579120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8229124" y="635318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1"/>
            </p:custDataLst>
          </p:nvPr>
        </p:nvCxnSpPr>
        <p:spPr>
          <a:xfrm>
            <a:off x="8229124" y="691039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7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6" name="矩形: 圆顶角 12"/>
          <p:cNvSpPr/>
          <p:nvPr>
            <p:custDataLst>
              <p:tags r:id="rId4"/>
            </p:custDataLst>
          </p:nvPr>
        </p:nvSpPr>
        <p:spPr>
          <a:xfrm rot="16200000" flipH="1">
            <a:off x="2233613" y="-836771"/>
            <a:ext cx="57150" cy="345519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</a:endParaRPr>
          </a:p>
        </p:txBody>
      </p:sp>
      <p:cxnSp>
        <p:nvCxnSpPr>
          <p:cNvPr id="15" name="直接连接符 14"/>
          <p:cNvCxnSpPr/>
          <p:nvPr>
            <p:custDataLst>
              <p:tags r:id="rId5"/>
            </p:custDataLst>
          </p:nvPr>
        </p:nvCxnSpPr>
        <p:spPr>
          <a:xfrm>
            <a:off x="8229124" y="579120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6"/>
            </p:custDataLst>
          </p:nvPr>
        </p:nvCxnSpPr>
        <p:spPr>
          <a:xfrm>
            <a:off x="8229124" y="635318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7"/>
            </p:custDataLst>
          </p:nvPr>
        </p:nvCxnSpPr>
        <p:spPr>
          <a:xfrm>
            <a:off x="8229124" y="691039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521970" y="270034"/>
            <a:ext cx="8101489" cy="4363403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11" name="标题"/>
          <p:cNvSpPr txBox="1">
            <a:spLocks noGrp="1"/>
          </p:cNvSpPr>
          <p:nvPr>
            <p:ph type="title" idx="6" hasCustomPrompt="1"/>
            <p:custDataLst>
              <p:tags r:id="rId3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矩形: 圆顶角 12"/>
          <p:cNvSpPr/>
          <p:nvPr>
            <p:custDataLst>
              <p:tags r:id="rId4"/>
            </p:custDataLst>
          </p:nvPr>
        </p:nvSpPr>
        <p:spPr>
          <a:xfrm rot="16200000" flipH="1">
            <a:off x="2233613" y="-836771"/>
            <a:ext cx="57150" cy="345519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</a:endParaRPr>
          </a:p>
        </p:txBody>
      </p:sp>
      <p:cxnSp>
        <p:nvCxnSpPr>
          <p:cNvPr id="7" name="直接连接符 6"/>
          <p:cNvCxnSpPr/>
          <p:nvPr>
            <p:custDataLst>
              <p:tags r:id="rId5"/>
            </p:custDataLst>
          </p:nvPr>
        </p:nvCxnSpPr>
        <p:spPr>
          <a:xfrm>
            <a:off x="8229124" y="579120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>
            <p:custDataLst>
              <p:tags r:id="rId6"/>
            </p:custDataLst>
          </p:nvPr>
        </p:nvCxnSpPr>
        <p:spPr>
          <a:xfrm>
            <a:off x="8229124" y="635318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229124" y="691039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521970" y="976313"/>
            <a:ext cx="8099316" cy="3041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82" name="椭圆 8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 flipH="1">
            <a:off x="1616869" y="1093879"/>
            <a:ext cx="1322546" cy="132254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89000">
                <a:schemeClr val="accent1">
                  <a:lumMod val="40000"/>
                  <a:lumOff val="60000"/>
                  <a:alpha val="60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sym typeface="+mn-lt"/>
            </a:endParaRPr>
          </a:p>
        </p:txBody>
      </p:sp>
      <p:sp>
        <p:nvSpPr>
          <p:cNvPr id="10" name="任意多边形: 形状 6"/>
          <p:cNvSpPr/>
          <p:nvPr>
            <p:custDataLst>
              <p:tags r:id="rId4"/>
            </p:custDataLst>
          </p:nvPr>
        </p:nvSpPr>
        <p:spPr>
          <a:xfrm flipH="1">
            <a:off x="7706676" y="0"/>
            <a:ext cx="1117760" cy="605695"/>
          </a:xfrm>
          <a:custGeom>
            <a:avLst/>
            <a:gdLst>
              <a:gd name="connsiteX0" fmla="*/ 1484054 w 1490346"/>
              <a:gd name="connsiteY0" fmla="*/ 0 h 807593"/>
              <a:gd name="connsiteX1" fmla="*/ 6292 w 1490346"/>
              <a:gd name="connsiteY1" fmla="*/ 0 h 807593"/>
              <a:gd name="connsiteX2" fmla="*/ 0 w 1490346"/>
              <a:gd name="connsiteY2" fmla="*/ 62420 h 807593"/>
              <a:gd name="connsiteX3" fmla="*/ 745173 w 1490346"/>
              <a:gd name="connsiteY3" fmla="*/ 807593 h 807593"/>
              <a:gd name="connsiteX4" fmla="*/ 1490346 w 1490346"/>
              <a:gd name="connsiteY4" fmla="*/ 62420 h 807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07593">
                <a:moveTo>
                  <a:pt x="1484054" y="0"/>
                </a:moveTo>
                <a:lnTo>
                  <a:pt x="6292" y="0"/>
                </a:lnTo>
                <a:lnTo>
                  <a:pt x="0" y="62420"/>
                </a:lnTo>
                <a:cubicBezTo>
                  <a:pt x="0" y="473968"/>
                  <a:pt x="333625" y="807593"/>
                  <a:pt x="745173" y="807593"/>
                </a:cubicBezTo>
                <a:cubicBezTo>
                  <a:pt x="1156721" y="807593"/>
                  <a:pt x="1490346" y="473968"/>
                  <a:pt x="1490346" y="6242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89000">
                <a:schemeClr val="accent1">
                  <a:alpha val="25000"/>
                </a:schemeClr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lt1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5"/>
            </p:custDataLst>
          </p:nvPr>
        </p:nvCxnSpPr>
        <p:spPr>
          <a:xfrm>
            <a:off x="628174" y="451009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6"/>
            </p:custDataLst>
          </p:nvPr>
        </p:nvCxnSpPr>
        <p:spPr>
          <a:xfrm>
            <a:off x="628174" y="494824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628174" y="538639"/>
            <a:ext cx="1371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 descr="箭头 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9151" y="4672013"/>
            <a:ext cx="115253" cy="115253"/>
          </a:xfrm>
          <a:prstGeom prst="rect">
            <a:avLst/>
          </a:prstGeom>
        </p:spPr>
      </p:pic>
      <p:pic>
        <p:nvPicPr>
          <p:cNvPr id="58" name="图片 57" descr="箭头 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628174" y="4672013"/>
            <a:ext cx="115253" cy="115253"/>
          </a:xfrm>
          <a:prstGeom prst="rect">
            <a:avLst/>
          </a:prstGeom>
        </p:spPr>
      </p:pic>
      <p:sp>
        <p:nvSpPr>
          <p:cNvPr id="18" name="矩形: 圆顶角 12"/>
          <p:cNvSpPr/>
          <p:nvPr>
            <p:custDataLst>
              <p:tags r:id="rId14"/>
            </p:custDataLst>
          </p:nvPr>
        </p:nvSpPr>
        <p:spPr>
          <a:xfrm rot="18900000" flipH="1">
            <a:off x="6009799" y="780098"/>
            <a:ext cx="1539716" cy="286607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</a:endParaRPr>
          </a:p>
        </p:txBody>
      </p:sp>
      <p:sp>
        <p:nvSpPr>
          <p:cNvPr id="19" name="矩形: 圆顶角 13"/>
          <p:cNvSpPr/>
          <p:nvPr>
            <p:custDataLst>
              <p:tags r:id="rId15"/>
            </p:custDataLst>
          </p:nvPr>
        </p:nvSpPr>
        <p:spPr>
          <a:xfrm rot="8100000" flipH="1">
            <a:off x="5779770" y="1699736"/>
            <a:ext cx="1539716" cy="2905601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00000">
                <a:schemeClr val="accent6">
                  <a:lumMod val="20000"/>
                  <a:lumOff val="80000"/>
                  <a:alpha val="0"/>
                </a:schemeClr>
              </a:gs>
              <a:gs pos="0">
                <a:schemeClr val="bg1">
                  <a:alpha val="9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lt1"/>
              </a:solidFill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6"/>
            </p:custDataLst>
          </p:nvPr>
        </p:nvSpPr>
        <p:spPr>
          <a:xfrm>
            <a:off x="628174" y="1880258"/>
            <a:ext cx="5471160" cy="75879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200" b="1" i="0" u="none" strike="noStrike" kern="1200" cap="none" spc="0" normalizeH="0" baseline="0" noProof="1" dirty="0">
                <a:gradFill>
                  <a:gsLst>
                    <a:gs pos="20000">
                      <a:schemeClr val="accent2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17" name="署名占位符 10"/>
          <p:cNvSpPr>
            <a:spLocks noGrp="1"/>
          </p:cNvSpPr>
          <p:nvPr>
            <p:ph type="body" sz="quarter" idx="17" hasCustomPrompt="1"/>
            <p:custDataLst>
              <p:tags r:id="rId20"/>
            </p:custDataLst>
          </p:nvPr>
        </p:nvSpPr>
        <p:spPr>
          <a:xfrm>
            <a:off x="628174" y="2991720"/>
            <a:ext cx="1458000" cy="34295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3" Type="http://schemas.openxmlformats.org/officeDocument/2006/relationships/theme" Target="../theme/theme2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133.xml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2"/>
            </p:custDataLst>
          </p:nvPr>
        </p:nvSpPr>
        <p:spPr>
          <a:xfrm>
            <a:off x="0" y="0"/>
            <a:ext cx="9143999" cy="51435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</a:endParaRPr>
          </a:p>
        </p:txBody>
      </p:sp>
      <p:sp>
        <p:nvSpPr>
          <p:cNvPr id="8" name="矩形: 圆顶角 12"/>
          <p:cNvSpPr/>
          <p:nvPr>
            <p:custDataLst>
              <p:tags r:id="rId13"/>
            </p:custDataLst>
          </p:nvPr>
        </p:nvSpPr>
        <p:spPr>
          <a:xfrm rot="16200000" flipH="1">
            <a:off x="2233613" y="-836771"/>
            <a:ext cx="57150" cy="3455194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56000">
                <a:schemeClr val="accent1">
                  <a:lumMod val="60000"/>
                  <a:lumOff val="40000"/>
                  <a:alpha val="4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lt1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8229124" y="579120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5"/>
            </p:custDataLst>
          </p:nvPr>
        </p:nvCxnSpPr>
        <p:spPr>
          <a:xfrm>
            <a:off x="8229124" y="635318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6"/>
            </p:custDataLst>
          </p:nvPr>
        </p:nvCxnSpPr>
        <p:spPr>
          <a:xfrm>
            <a:off x="8229124" y="691039"/>
            <a:ext cx="15382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521970" y="476726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6565487" y="476726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标题占位符 3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6" name="KSO_TEMPLATE" hidden="1"/>
          <p:cNvSpPr/>
          <p:nvPr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0" lang="en-US" sz="2400" b="0" i="0" u="none" strike="noStrike" kern="1200" cap="none" spc="0" normalizeH="0" baseline="0" smtClean="0">
          <a:ln>
            <a:noFill/>
            <a:prstDash val="sysDot"/>
          </a:ln>
          <a:solidFill>
            <a:schemeClr val="accent2"/>
          </a:solidFill>
          <a:uFillTx/>
          <a:latin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0" lang="en-US" sz="1350" b="0" i="0" u="none" strike="noStrike" kern="1200" cap="none" spc="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en-US" sz="10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0" lang="en-US" sz="105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50000"/>
              <a:lumOff val="50000"/>
            </a:schemeClr>
          </a:solidFill>
          <a:uFillTx/>
          <a:latin typeface="+mn-ea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8" Type="http://schemas.openxmlformats.org/officeDocument/2006/relationships/notesSlide" Target="../notesSlides/notesSlide1.xml"/><Relationship Id="rId27" Type="http://schemas.openxmlformats.org/officeDocument/2006/relationships/slideLayout" Target="../slideLayouts/slideLayout3.xml"/><Relationship Id="rId26" Type="http://schemas.openxmlformats.org/officeDocument/2006/relationships/tags" Target="../tags/tag162.xml"/><Relationship Id="rId25" Type="http://schemas.openxmlformats.org/officeDocument/2006/relationships/tags" Target="../tags/tag161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tags" Target="../tags/tag138.xml"/><Relationship Id="rId19" Type="http://schemas.openxmlformats.org/officeDocument/2006/relationships/tags" Target="../tags/tag155.xml"/><Relationship Id="rId18" Type="http://schemas.openxmlformats.org/officeDocument/2006/relationships/tags" Target="../tags/tag154.xml"/><Relationship Id="rId17" Type="http://schemas.openxmlformats.org/officeDocument/2006/relationships/tags" Target="../tags/tag153.xml"/><Relationship Id="rId16" Type="http://schemas.openxmlformats.org/officeDocument/2006/relationships/tags" Target="../tags/tag152.xml"/><Relationship Id="rId15" Type="http://schemas.openxmlformats.org/officeDocument/2006/relationships/tags" Target="../tags/tag151.xml"/><Relationship Id="rId14" Type="http://schemas.openxmlformats.org/officeDocument/2006/relationships/tags" Target="../tags/tag150.xml"/><Relationship Id="rId13" Type="http://schemas.openxmlformats.org/officeDocument/2006/relationships/tags" Target="../tags/tag149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tags" Target="../tags/tag13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2" Type="http://schemas.openxmlformats.org/officeDocument/2006/relationships/notesSlide" Target="../notesSlides/notesSlide2.xml"/><Relationship Id="rId31" Type="http://schemas.openxmlformats.org/officeDocument/2006/relationships/slideLayout" Target="../slideLayouts/slideLayout3.xml"/><Relationship Id="rId30" Type="http://schemas.openxmlformats.org/officeDocument/2006/relationships/tags" Target="../tags/tag192.xml"/><Relationship Id="rId3" Type="http://schemas.openxmlformats.org/officeDocument/2006/relationships/tags" Target="../tags/tag165.xml"/><Relationship Id="rId29" Type="http://schemas.openxmlformats.org/officeDocument/2006/relationships/tags" Target="../tags/tag191.xml"/><Relationship Id="rId28" Type="http://schemas.openxmlformats.org/officeDocument/2006/relationships/tags" Target="../tags/tag190.xml"/><Relationship Id="rId27" Type="http://schemas.openxmlformats.org/officeDocument/2006/relationships/tags" Target="../tags/tag189.xml"/><Relationship Id="rId26" Type="http://schemas.openxmlformats.org/officeDocument/2006/relationships/tags" Target="../tags/tag188.xml"/><Relationship Id="rId25" Type="http://schemas.openxmlformats.org/officeDocument/2006/relationships/tags" Target="../tags/tag187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2" Type="http://schemas.openxmlformats.org/officeDocument/2006/relationships/notesSlide" Target="../notesSlides/notesSlide3.xml"/><Relationship Id="rId31" Type="http://schemas.openxmlformats.org/officeDocument/2006/relationships/slideLayout" Target="../slideLayouts/slideLayout8.xml"/><Relationship Id="rId30" Type="http://schemas.openxmlformats.org/officeDocument/2006/relationships/tags" Target="../tags/tag222.xml"/><Relationship Id="rId3" Type="http://schemas.openxmlformats.org/officeDocument/2006/relationships/tags" Target="../tags/tag195.xml"/><Relationship Id="rId29" Type="http://schemas.openxmlformats.org/officeDocument/2006/relationships/tags" Target="../tags/tag221.xml"/><Relationship Id="rId28" Type="http://schemas.openxmlformats.org/officeDocument/2006/relationships/tags" Target="../tags/tag220.xml"/><Relationship Id="rId27" Type="http://schemas.openxmlformats.org/officeDocument/2006/relationships/tags" Target="../tags/tag219.xml"/><Relationship Id="rId26" Type="http://schemas.openxmlformats.org/officeDocument/2006/relationships/tags" Target="../tags/tag218.xml"/><Relationship Id="rId25" Type="http://schemas.openxmlformats.org/officeDocument/2006/relationships/tags" Target="../tags/tag217.xml"/><Relationship Id="rId24" Type="http://schemas.openxmlformats.org/officeDocument/2006/relationships/tags" Target="../tags/tag216.xml"/><Relationship Id="rId23" Type="http://schemas.openxmlformats.org/officeDocument/2006/relationships/tags" Target="../tags/tag215.xml"/><Relationship Id="rId22" Type="http://schemas.openxmlformats.org/officeDocument/2006/relationships/tags" Target="../tags/tag214.xml"/><Relationship Id="rId21" Type="http://schemas.openxmlformats.org/officeDocument/2006/relationships/tags" Target="../tags/tag213.xml"/><Relationship Id="rId20" Type="http://schemas.openxmlformats.org/officeDocument/2006/relationships/tags" Target="../tags/tag212.xml"/><Relationship Id="rId2" Type="http://schemas.openxmlformats.org/officeDocument/2006/relationships/tags" Target="../tags/tag194.xml"/><Relationship Id="rId19" Type="http://schemas.openxmlformats.org/officeDocument/2006/relationships/tags" Target="../tags/tag211.xml"/><Relationship Id="rId18" Type="http://schemas.openxmlformats.org/officeDocument/2006/relationships/tags" Target="../tags/tag210.xml"/><Relationship Id="rId17" Type="http://schemas.openxmlformats.org/officeDocument/2006/relationships/tags" Target="../tags/tag209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235.xml"/><Relationship Id="rId12" Type="http://schemas.openxmlformats.org/officeDocument/2006/relationships/tags" Target="../tags/tag234.xml"/><Relationship Id="rId11" Type="http://schemas.openxmlformats.org/officeDocument/2006/relationships/tags" Target="../tags/tag233.xml"/><Relationship Id="rId10" Type="http://schemas.openxmlformats.org/officeDocument/2006/relationships/tags" Target="../tags/tag232.xml"/><Relationship Id="rId1" Type="http://schemas.openxmlformats.org/officeDocument/2006/relationships/tags" Target="../tags/tag22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6" Type="http://schemas.openxmlformats.org/officeDocument/2006/relationships/notesSlide" Target="../notesSlides/notesSlide5.xml"/><Relationship Id="rId45" Type="http://schemas.openxmlformats.org/officeDocument/2006/relationships/slideLayout" Target="../slideLayouts/slideLayout8.xml"/><Relationship Id="rId44" Type="http://schemas.openxmlformats.org/officeDocument/2006/relationships/tags" Target="../tags/tag279.xml"/><Relationship Id="rId43" Type="http://schemas.openxmlformats.org/officeDocument/2006/relationships/tags" Target="../tags/tag278.xml"/><Relationship Id="rId42" Type="http://schemas.openxmlformats.org/officeDocument/2006/relationships/tags" Target="../tags/tag277.xml"/><Relationship Id="rId41" Type="http://schemas.openxmlformats.org/officeDocument/2006/relationships/tags" Target="../tags/tag276.xml"/><Relationship Id="rId40" Type="http://schemas.openxmlformats.org/officeDocument/2006/relationships/tags" Target="../tags/tag275.xml"/><Relationship Id="rId4" Type="http://schemas.openxmlformats.org/officeDocument/2006/relationships/tags" Target="../tags/tag239.xml"/><Relationship Id="rId39" Type="http://schemas.openxmlformats.org/officeDocument/2006/relationships/tags" Target="../tags/tag274.xml"/><Relationship Id="rId38" Type="http://schemas.openxmlformats.org/officeDocument/2006/relationships/tags" Target="../tags/tag273.xml"/><Relationship Id="rId37" Type="http://schemas.openxmlformats.org/officeDocument/2006/relationships/tags" Target="../tags/tag272.xml"/><Relationship Id="rId36" Type="http://schemas.openxmlformats.org/officeDocument/2006/relationships/tags" Target="../tags/tag271.xml"/><Relationship Id="rId35" Type="http://schemas.openxmlformats.org/officeDocument/2006/relationships/tags" Target="../tags/tag270.xml"/><Relationship Id="rId34" Type="http://schemas.openxmlformats.org/officeDocument/2006/relationships/tags" Target="../tags/tag269.xml"/><Relationship Id="rId33" Type="http://schemas.openxmlformats.org/officeDocument/2006/relationships/tags" Target="../tags/tag268.xml"/><Relationship Id="rId32" Type="http://schemas.openxmlformats.org/officeDocument/2006/relationships/tags" Target="../tags/tag267.xml"/><Relationship Id="rId31" Type="http://schemas.openxmlformats.org/officeDocument/2006/relationships/tags" Target="../tags/tag266.xml"/><Relationship Id="rId30" Type="http://schemas.openxmlformats.org/officeDocument/2006/relationships/tags" Target="../tags/tag265.xml"/><Relationship Id="rId3" Type="http://schemas.openxmlformats.org/officeDocument/2006/relationships/tags" Target="../tags/tag238.xml"/><Relationship Id="rId29" Type="http://schemas.openxmlformats.org/officeDocument/2006/relationships/tags" Target="../tags/tag264.xml"/><Relationship Id="rId28" Type="http://schemas.openxmlformats.org/officeDocument/2006/relationships/tags" Target="../tags/tag263.xml"/><Relationship Id="rId27" Type="http://schemas.openxmlformats.org/officeDocument/2006/relationships/tags" Target="../tags/tag262.xml"/><Relationship Id="rId26" Type="http://schemas.openxmlformats.org/officeDocument/2006/relationships/tags" Target="../tags/tag261.xml"/><Relationship Id="rId25" Type="http://schemas.openxmlformats.org/officeDocument/2006/relationships/tags" Target="../tags/tag260.xml"/><Relationship Id="rId24" Type="http://schemas.openxmlformats.org/officeDocument/2006/relationships/tags" Target="../tags/tag259.xml"/><Relationship Id="rId23" Type="http://schemas.openxmlformats.org/officeDocument/2006/relationships/tags" Target="../tags/tag258.xml"/><Relationship Id="rId22" Type="http://schemas.openxmlformats.org/officeDocument/2006/relationships/tags" Target="../tags/tag257.xml"/><Relationship Id="rId21" Type="http://schemas.openxmlformats.org/officeDocument/2006/relationships/tags" Target="../tags/tag256.xml"/><Relationship Id="rId20" Type="http://schemas.openxmlformats.org/officeDocument/2006/relationships/tags" Target="../tags/tag255.xml"/><Relationship Id="rId2" Type="http://schemas.openxmlformats.org/officeDocument/2006/relationships/tags" Target="../tags/tag237.xml"/><Relationship Id="rId19" Type="http://schemas.openxmlformats.org/officeDocument/2006/relationships/tags" Target="../tags/tag254.xml"/><Relationship Id="rId18" Type="http://schemas.openxmlformats.org/officeDocument/2006/relationships/tags" Target="../tags/tag253.xml"/><Relationship Id="rId17" Type="http://schemas.openxmlformats.org/officeDocument/2006/relationships/tags" Target="../tags/tag252.xml"/><Relationship Id="rId16" Type="http://schemas.openxmlformats.org/officeDocument/2006/relationships/tags" Target="../tags/tag251.xml"/><Relationship Id="rId15" Type="http://schemas.openxmlformats.org/officeDocument/2006/relationships/tags" Target="../tags/tag250.xml"/><Relationship Id="rId14" Type="http://schemas.openxmlformats.org/officeDocument/2006/relationships/tags" Target="../tags/tag249.xml"/><Relationship Id="rId13" Type="http://schemas.openxmlformats.org/officeDocument/2006/relationships/tags" Target="../tags/tag248.xml"/><Relationship Id="rId12" Type="http://schemas.openxmlformats.org/officeDocument/2006/relationships/tags" Target="../tags/tag247.xml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tags" Target="../tags/tag2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>
            <p:custDataLst>
              <p:tags r:id="rId1"/>
            </p:custDataLst>
          </p:nvPr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3" name="Shape 1"/>
          <p:cNvSpPr/>
          <p:nvPr>
            <p:custDataLst>
              <p:tags r:id="rId2"/>
            </p:custDataLst>
          </p:nvPr>
        </p:nvSpPr>
        <p:spPr>
          <a:xfrm>
            <a:off x="7680960" y="-822960"/>
            <a:ext cx="2560320" cy="2560320"/>
          </a:xfrm>
          <a:prstGeom prst="ellipse">
            <a:avLst/>
          </a:prstGeom>
          <a:solidFill>
            <a:schemeClr val="accent1">
              <a:alpha val="15000"/>
            </a:schemeClr>
          </a:solidFill>
        </p:spPr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8229600" y="-365760"/>
            <a:ext cx="1645920" cy="1645920"/>
          </a:xfrm>
          <a:prstGeom prst="ellipse">
            <a:avLst/>
          </a:prstGeom>
          <a:solidFill>
            <a:schemeClr val="accent2">
              <a:alpha val="30000"/>
            </a:schemeClr>
          </a:solidFill>
        </p:spPr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411480" y="384048"/>
            <a:ext cx="2011680" cy="292608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6" name="Text 4"/>
          <p:cNvSpPr/>
          <p:nvPr>
            <p:custDataLst>
              <p:tags r:id="rId5"/>
            </p:custDataLst>
          </p:nvPr>
        </p:nvSpPr>
        <p:spPr>
          <a:xfrm>
            <a:off x="411480" y="38404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</a:rPr>
              <a:t>PHARMACY2U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411480" y="233172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1"/>
                </a:solidFill>
              </a:rPr>
              <a:t>Predicting late refills from CMS dispensing history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accent1"/>
                </a:solidFill>
              </a:rPr>
              <a:t>using XGBoost + SHAP Explainability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411480" y="3154680"/>
            <a:ext cx="1737360" cy="1371600"/>
          </a:xfrm>
          <a:prstGeom prst="rect">
            <a:avLst/>
          </a:prstGeom>
          <a:solidFill>
            <a:schemeClr val="accent1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411480" y="3154680"/>
            <a:ext cx="91440" cy="13716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1" name="Text 9"/>
          <p:cNvSpPr/>
          <p:nvPr>
            <p:custDataLst>
              <p:tags r:id="rId9"/>
            </p:custDataLst>
          </p:nvPr>
        </p:nvSpPr>
        <p:spPr>
          <a:xfrm>
            <a:off x="548640" y="32461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lt1"/>
                </a:solidFill>
              </a:rPr>
              <a:t>0.779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548640" y="38221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PR-AUC</a:t>
            </a:r>
            <a:endParaRPr lang="en-US" sz="120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548640" y="41148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chemeClr val="lt1"/>
                </a:solidFill>
              </a:rPr>
              <a:t>Primary metric</a:t>
            </a:r>
            <a:endParaRPr lang="en-US" sz="900" dirty="0">
              <a:solidFill>
                <a:schemeClr val="lt1"/>
              </a:solidFill>
            </a:endParaRPr>
          </a:p>
        </p:txBody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2331720" y="3154680"/>
            <a:ext cx="1737360" cy="1371600"/>
          </a:xfrm>
          <a:prstGeom prst="rect">
            <a:avLst/>
          </a:prstGeom>
          <a:solidFill>
            <a:schemeClr val="accent1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2331720" y="3154680"/>
            <a:ext cx="91440" cy="13716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6" name="Text 14"/>
          <p:cNvSpPr/>
          <p:nvPr>
            <p:custDataLst>
              <p:tags r:id="rId14"/>
            </p:custDataLst>
          </p:nvPr>
        </p:nvSpPr>
        <p:spPr>
          <a:xfrm>
            <a:off x="2468880" y="32461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lt1"/>
                </a:solidFill>
              </a:rPr>
              <a:t>0.610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2468880" y="38221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lt1"/>
                </a:solidFill>
              </a:rPr>
              <a:t>ROC-AUC</a:t>
            </a:r>
            <a:endParaRPr lang="en-US" sz="1200" b="1" dirty="0">
              <a:solidFill>
                <a:schemeClr val="lt1"/>
              </a:solidFill>
            </a:endParaRPr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2468880" y="41148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chemeClr val="lt1"/>
                </a:solidFill>
              </a:rPr>
              <a:t>Discrimination</a:t>
            </a:r>
            <a:endParaRPr lang="en-US" sz="900" dirty="0">
              <a:solidFill>
                <a:schemeClr val="lt1"/>
              </a:solidFill>
            </a:endParaRPr>
          </a:p>
        </p:txBody>
      </p:sp>
      <p:sp>
        <p:nvSpPr>
          <p:cNvPr id="19" name="Shape 17"/>
          <p:cNvSpPr/>
          <p:nvPr>
            <p:custDataLst>
              <p:tags r:id="rId17"/>
            </p:custDataLst>
          </p:nvPr>
        </p:nvSpPr>
        <p:spPr>
          <a:xfrm>
            <a:off x="4251960" y="3154680"/>
            <a:ext cx="1737360" cy="1371600"/>
          </a:xfrm>
          <a:prstGeom prst="rect">
            <a:avLst/>
          </a:prstGeom>
          <a:solidFill>
            <a:schemeClr val="accent1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8"/>
            </p:custDataLst>
          </p:nvPr>
        </p:nvSpPr>
        <p:spPr>
          <a:xfrm>
            <a:off x="4251960" y="3154680"/>
            <a:ext cx="91440" cy="13716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1" name="Text 19"/>
          <p:cNvSpPr/>
          <p:nvPr>
            <p:custDataLst>
              <p:tags r:id="rId19"/>
            </p:custDataLst>
          </p:nvPr>
        </p:nvSpPr>
        <p:spPr>
          <a:xfrm>
            <a:off x="4389120" y="32461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lt1"/>
                </a:solidFill>
              </a:rPr>
              <a:t>0.768</a:t>
            </a:r>
            <a:endParaRPr lang="en-US" sz="2800" b="1" dirty="0">
              <a:solidFill>
                <a:schemeClr val="lt1"/>
              </a:solidFill>
            </a:endParaRPr>
          </a:p>
        </p:txBody>
      </p:sp>
      <p:sp>
        <p:nvSpPr>
          <p:cNvPr id="22" name="Text 20"/>
          <p:cNvSpPr/>
          <p:nvPr>
            <p:custDataLst>
              <p:tags r:id="rId20"/>
            </p:custDataLst>
          </p:nvPr>
        </p:nvSpPr>
        <p:spPr>
          <a:xfrm>
            <a:off x="4389120" y="3822192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lt1"/>
                </a:solidFill>
              </a:rPr>
              <a:t>F1 Score</a:t>
            </a:r>
            <a:endParaRPr lang="en-US" sz="1200" b="1" dirty="0">
              <a:solidFill>
                <a:schemeClr val="lt1"/>
              </a:solidFill>
            </a:endParaRPr>
          </a:p>
        </p:txBody>
      </p:sp>
      <p:sp>
        <p:nvSpPr>
          <p:cNvPr id="23" name="Text 21"/>
          <p:cNvSpPr/>
          <p:nvPr>
            <p:custDataLst>
              <p:tags r:id="rId21"/>
            </p:custDataLst>
          </p:nvPr>
        </p:nvSpPr>
        <p:spPr>
          <a:xfrm>
            <a:off x="4389120" y="411480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chemeClr val="lt1"/>
                </a:solidFill>
              </a:rPr>
              <a:t>Tuned XGBoost</a:t>
            </a:r>
            <a:endParaRPr lang="en-US" sz="900" dirty="0">
              <a:solidFill>
                <a:schemeClr val="lt1"/>
              </a:solidFill>
            </a:endParaRPr>
          </a:p>
        </p:txBody>
      </p:sp>
      <p:sp>
        <p:nvSpPr>
          <p:cNvPr id="24" name="Shape 22"/>
          <p:cNvSpPr/>
          <p:nvPr>
            <p:custDataLst>
              <p:tags r:id="rId22"/>
            </p:custDataLst>
          </p:nvPr>
        </p:nvSpPr>
        <p:spPr>
          <a:xfrm>
            <a:off x="6217920" y="3154680"/>
            <a:ext cx="2651760" cy="137160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23"/>
            </p:custDataLst>
          </p:nvPr>
        </p:nvSpPr>
        <p:spPr>
          <a:xfrm>
            <a:off x="6355080" y="3246120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>
                    <a:lumMod val="50000"/>
                    <a:hueOff val="9600000"/>
                  </a:schemeClr>
                </a:solidFill>
              </a:rPr>
              <a:t>5.5M  </a:t>
            </a:r>
            <a:r>
              <a:rPr lang="en-US" sz="1100" dirty="0">
                <a:solidFill>
                  <a:schemeClr val="tx1"/>
                </a:solidFill>
              </a:rPr>
              <a:t>Prescription Events
</a:t>
            </a:r>
            <a:r>
              <a:rPr lang="en-US" sz="1500" b="1" dirty="0">
                <a:solidFill>
                  <a:schemeClr val="accent1">
                    <a:lumMod val="50000"/>
                    <a:hueOff val="9600000"/>
                  </a:schemeClr>
                </a:solidFill>
              </a:rPr>
              <a:t>112K  </a:t>
            </a:r>
            <a:r>
              <a:rPr lang="en-US" sz="1100" dirty="0">
                <a:solidFill>
                  <a:schemeClr val="tx1"/>
                </a:solidFill>
              </a:rPr>
              <a:t>Patients
</a:t>
            </a:r>
            <a:r>
              <a:rPr lang="en-US" sz="900" i="1" dirty="0">
                <a:solidFill>
                  <a:schemeClr val="accent1">
                    <a:lumMod val="50000"/>
                    <a:hueOff val="10800000"/>
                  </a:schemeClr>
                </a:solidFill>
              </a:rPr>
              <a:t>Synthetic CMS SynPUF · 2008–2010</a:t>
            </a:r>
            <a:endParaRPr lang="en-US" sz="900" i="1" dirty="0">
              <a:solidFill>
                <a:schemeClr val="accent1">
                  <a:lumMod val="50000"/>
                  <a:hueOff val="10800000"/>
                </a:schemeClr>
              </a:solidFill>
            </a:endParaRPr>
          </a:p>
        </p:txBody>
      </p:sp>
      <p:sp>
        <p:nvSpPr>
          <p:cNvPr id="26" name="Text 24"/>
          <p:cNvSpPr/>
          <p:nvPr>
            <p:custDataLst>
              <p:tags r:id="rId24"/>
            </p:custDataLst>
          </p:nvPr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i="1" dirty="0">
                <a:solidFill>
                  <a:schemeClr val="accent1"/>
                </a:solidFill>
              </a:rPr>
              <a:t>For operational use only · Not clinical advice · Synthetic CMS data (SynPUF)</a:t>
            </a:r>
            <a:endParaRPr lang="en-US" sz="800" i="1" dirty="0">
              <a:solidFill>
                <a:schemeClr val="accent1"/>
              </a:solidFill>
            </a:endParaRPr>
          </a:p>
        </p:txBody>
      </p:sp>
      <p:sp>
        <p:nvSpPr>
          <p:cNvPr id="37" name="Title 36"/>
          <p:cNvSpPr txBox="1">
            <a:spLocks noGrp="1"/>
          </p:cNvSpPr>
          <p:nvPr>
            <p:ph type="title" idx="5"/>
            <p:custDataLst>
              <p:tags r:id="rId25"/>
            </p:custDataLst>
          </p:nvPr>
        </p:nvSpPr>
        <p:spPr>
          <a:xfrm>
            <a:off x="411215" y="1345300"/>
            <a:ext cx="8226900" cy="52920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Prescription Adherence</a:t>
            </a:r>
            <a:endParaRPr>
              <a:ea typeface="+mj-ea"/>
              <a:cs typeface="+mn-ea"/>
              <a:sym typeface="+mn-ea"/>
            </a:endParaRPr>
          </a:p>
          <a:p>
            <a:pPr lvl="0" algn="l"/>
            <a:r>
              <a:rPr>
                <a:ea typeface="+mj-ea"/>
                <a:cs typeface="+mn-ea"/>
                <a:sym typeface="+mn-ea"/>
              </a:rPr>
              <a:t>Risk Modelling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320040" y="45720"/>
            <a:ext cx="59436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74320" y="1170432"/>
            <a:ext cx="4023360" cy="1097280"/>
          </a:xfrm>
          <a:prstGeom prst="rect">
            <a:avLst/>
          </a:prstGeom>
          <a:solidFill>
            <a:schemeClr val="accent2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274320" y="1170432"/>
            <a:ext cx="4023360" cy="64008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411480" y="1261872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🎯  The Problem</a:t>
            </a:r>
            <a:endParaRPr lang="en-US" sz="12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411480" y="1572768"/>
            <a:ext cx="374904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Non-adherence costs the NHS billions annually. Goal: predict whether a patient will be LATE filling their next prescription — early enough to trigger a proactive reminder.</a:t>
            </a:r>
            <a:endParaRPr lang="en-US" sz="1050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274320" y="2395728"/>
            <a:ext cx="4023360" cy="24871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411480" y="2487168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📦  Dataset — CMS SynPUF (Synthetic CMS Data)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347472" y="2880360"/>
          <a:ext cx="3840480" cy="155448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640080"/>
                <a:gridCol w="1188720"/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File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Rows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Cols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Coverage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PDE (fills)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5,552,421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2008–2010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Beneficiary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112,754 pts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32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11 conditions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Merged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5,552,421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39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joined on ID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>
            <p:custDataLst>
              <p:tags r:id="rId9"/>
            </p:custDataLst>
          </p:nvPr>
        </p:nvSpPr>
        <p:spPr>
          <a:xfrm>
            <a:off x="4526280" y="1170432"/>
            <a:ext cx="4343400" cy="37124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4526280" y="1170432"/>
            <a:ext cx="4343400" cy="64008"/>
          </a:xfrm>
          <a:prstGeom prst="rect">
            <a:avLst/>
          </a:prstGeom>
          <a:solidFill>
            <a:schemeClr val="accent4"/>
          </a:solidFill>
        </p:spPr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4663440" y="126187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🏷  Label Engineering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16" name="Shape 13"/>
          <p:cNvSpPr/>
          <p:nvPr>
            <p:custDataLst>
              <p:tags r:id="rId12"/>
            </p:custDataLst>
          </p:nvPr>
        </p:nvSpPr>
        <p:spPr>
          <a:xfrm>
            <a:off x="4663440" y="1645920"/>
            <a:ext cx="4023360" cy="50292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7" name="Text 14"/>
          <p:cNvSpPr/>
          <p:nvPr>
            <p:custDataLst>
              <p:tags r:id="rId13"/>
            </p:custDataLst>
          </p:nvPr>
        </p:nvSpPr>
        <p:spPr>
          <a:xfrm>
            <a:off x="4663440" y="164592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  <a:ea typeface="Consolas" panose="020B0609020204030204" pitchFamily="34" charset="-122"/>
                <a:cs typeface="Consolas" panose="020B0609020204030204" pitchFamily="34" charset="-120"/>
              </a:rPr>
              <a:t>late_refill = 1  if  next_fill_date  &gt;  expected_runout  +  7 days</a:t>
            </a:r>
            <a:endParaRPr lang="en-US" sz="105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4"/>
            </p:custDataLst>
          </p:nvPr>
        </p:nvSpPr>
        <p:spPr>
          <a:xfrm>
            <a:off x="4663440" y="2267712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Class Distribution (heavily imbalanced)</a:t>
            </a:r>
            <a:endParaRPr lang="en-US" sz="1000" b="1" dirty="0">
              <a:solidFill>
                <a:schemeClr val="accent1"/>
              </a:solidFill>
            </a:endParaRPr>
          </a:p>
        </p:txBody>
      </p:sp>
      <p:sp>
        <p:nvSpPr>
          <p:cNvPr id="19" name="Shape 16"/>
          <p:cNvSpPr/>
          <p:nvPr>
            <p:custDataLst>
              <p:tags r:id="rId15"/>
            </p:custDataLst>
          </p:nvPr>
        </p:nvSpPr>
        <p:spPr>
          <a:xfrm>
            <a:off x="4663440" y="2578608"/>
            <a:ext cx="3749040" cy="27432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0" name="Shape 17"/>
          <p:cNvSpPr/>
          <p:nvPr>
            <p:custDataLst>
              <p:tags r:id="rId16"/>
            </p:custDataLst>
          </p:nvPr>
        </p:nvSpPr>
        <p:spPr>
          <a:xfrm>
            <a:off x="4663440" y="2578608"/>
            <a:ext cx="3422874" cy="274320"/>
          </a:xfrm>
          <a:prstGeom prst="rect">
            <a:avLst/>
          </a:prstGeom>
          <a:solidFill>
            <a:schemeClr val="accent5"/>
          </a:solidFill>
        </p:spPr>
      </p:sp>
      <p:sp>
        <p:nvSpPr>
          <p:cNvPr id="21" name="Text 18"/>
          <p:cNvSpPr/>
          <p:nvPr>
            <p:custDataLst>
              <p:tags r:id="rId17"/>
            </p:custDataLst>
          </p:nvPr>
        </p:nvSpPr>
        <p:spPr>
          <a:xfrm>
            <a:off x="4709160" y="258775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chemeClr val="tx1"/>
                </a:solidFill>
              </a:rPr>
              <a:t>Late  91.3%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2" name="Text 19"/>
          <p:cNvSpPr/>
          <p:nvPr>
            <p:custDataLst>
              <p:tags r:id="rId18"/>
            </p:custDataLst>
          </p:nvPr>
        </p:nvSpPr>
        <p:spPr>
          <a:xfrm>
            <a:off x="7498080" y="258775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On-time 8.7%</a:t>
            </a:r>
            <a:endParaRPr lang="en-US" sz="9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23" name="Shape 20"/>
          <p:cNvSpPr/>
          <p:nvPr>
            <p:custDataLst>
              <p:tags r:id="rId19"/>
            </p:custDataLst>
          </p:nvPr>
        </p:nvSpPr>
        <p:spPr>
          <a:xfrm>
            <a:off x="4663440" y="2990088"/>
            <a:ext cx="4023360" cy="530352"/>
          </a:xfrm>
          <a:prstGeom prst="rect">
            <a:avLst/>
          </a:prstGeom>
          <a:solidFill>
            <a:schemeClr val="accent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>
            <p:custDataLst>
              <p:tags r:id="rId20"/>
            </p:custDataLst>
          </p:nvPr>
        </p:nvSpPr>
        <p:spPr>
          <a:xfrm>
            <a:off x="4754880" y="3026664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chemeClr val="lt1"/>
                </a:solidFill>
              </a:rPr>
              <a:t>7-day grace:</a:t>
            </a:r>
            <a:endParaRPr lang="en-US" sz="900" b="1" dirty="0">
              <a:solidFill>
                <a:schemeClr val="lt1"/>
              </a:solidFill>
            </a:endParaRPr>
          </a:p>
        </p:txBody>
      </p:sp>
      <p:sp>
        <p:nvSpPr>
          <p:cNvPr id="25" name="Text 22"/>
          <p:cNvSpPr/>
          <p:nvPr>
            <p:custDataLst>
              <p:tags r:id="rId21"/>
            </p:custDataLst>
          </p:nvPr>
        </p:nvSpPr>
        <p:spPr>
          <a:xfrm>
            <a:off x="4754880" y="320954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lt1"/>
                </a:solidFill>
              </a:rPr>
              <a:t>pharmacy delays, weekends &amp; postal windows mean on-time patients can arrive up to 7 days after runout. Avoids false positives.</a:t>
            </a:r>
            <a:endParaRPr lang="en-US" sz="900" dirty="0">
              <a:solidFill>
                <a:schemeClr val="lt1"/>
              </a:solidFill>
            </a:endParaRPr>
          </a:p>
        </p:txBody>
      </p:sp>
      <p:sp>
        <p:nvSpPr>
          <p:cNvPr id="26" name="Shape 23"/>
          <p:cNvSpPr/>
          <p:nvPr>
            <p:custDataLst>
              <p:tags r:id="rId22"/>
            </p:custDataLst>
          </p:nvPr>
        </p:nvSpPr>
        <p:spPr>
          <a:xfrm>
            <a:off x="4663440" y="3602736"/>
            <a:ext cx="4023360" cy="530352"/>
          </a:xfrm>
          <a:prstGeom prst="rect">
            <a:avLst/>
          </a:prstGeom>
          <a:solidFill>
            <a:schemeClr val="accent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>
            <p:custDataLst>
              <p:tags r:id="rId23"/>
            </p:custDataLst>
          </p:nvPr>
        </p:nvSpPr>
        <p:spPr>
          <a:xfrm>
            <a:off x="4754880" y="3639312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chemeClr val="lt1"/>
                </a:solidFill>
              </a:rPr>
              <a:t>Time split:</a:t>
            </a:r>
            <a:endParaRPr lang="en-US" sz="900" b="1" dirty="0">
              <a:solidFill>
                <a:schemeClr val="lt1"/>
              </a:solidFill>
            </a:endParaRPr>
          </a:p>
        </p:txBody>
      </p:sp>
      <p:sp>
        <p:nvSpPr>
          <p:cNvPr id="28" name="Text 25"/>
          <p:cNvSpPr/>
          <p:nvPr>
            <p:custDataLst>
              <p:tags r:id="rId24"/>
            </p:custDataLst>
          </p:nvPr>
        </p:nvSpPr>
        <p:spPr>
          <a:xfrm>
            <a:off x="4754880" y="382219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lt1"/>
                </a:solidFill>
              </a:rPr>
              <a:t>Train ≤ 2009-12-31 | Test &gt; 2009-12-31. Prevents data leakage — model never sees future fills during training.</a:t>
            </a:r>
            <a:endParaRPr lang="en-US" sz="900" dirty="0">
              <a:solidFill>
                <a:schemeClr val="lt1"/>
              </a:solidFill>
            </a:endParaRPr>
          </a:p>
        </p:txBody>
      </p:sp>
      <p:sp>
        <p:nvSpPr>
          <p:cNvPr id="29" name="Shape 26"/>
          <p:cNvSpPr/>
          <p:nvPr>
            <p:custDataLst>
              <p:tags r:id="rId25"/>
            </p:custDataLst>
          </p:nvPr>
        </p:nvSpPr>
        <p:spPr>
          <a:xfrm>
            <a:off x="4663440" y="4215384"/>
            <a:ext cx="4023360" cy="530352"/>
          </a:xfrm>
          <a:prstGeom prst="rect">
            <a:avLst/>
          </a:prstGeom>
          <a:solidFill>
            <a:schemeClr val="accent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>
            <p:custDataLst>
              <p:tags r:id="rId26"/>
            </p:custDataLst>
          </p:nvPr>
        </p:nvSpPr>
        <p:spPr>
          <a:xfrm>
            <a:off x="4754880" y="42519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chemeClr val="lt1"/>
                </a:solidFill>
              </a:rPr>
              <a:t>Imbalance fix:</a:t>
            </a:r>
            <a:endParaRPr lang="en-US" sz="900" b="1" dirty="0">
              <a:solidFill>
                <a:schemeClr val="lt1"/>
              </a:solidFill>
            </a:endParaRPr>
          </a:p>
        </p:txBody>
      </p:sp>
      <p:sp>
        <p:nvSpPr>
          <p:cNvPr id="31" name="Text 28"/>
          <p:cNvSpPr/>
          <p:nvPr>
            <p:custDataLst>
              <p:tags r:id="rId27"/>
            </p:custDataLst>
          </p:nvPr>
        </p:nvSpPr>
        <p:spPr>
          <a:xfrm>
            <a:off x="4754880" y="443484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lt1"/>
                </a:solidFill>
              </a:rPr>
              <a:t>scale_pos_weight in XGBoost up-weights the minority (on-time) class so the model learns both patterns.</a:t>
            </a:r>
            <a:endParaRPr lang="en-US" sz="900" dirty="0">
              <a:solidFill>
                <a:schemeClr val="lt1"/>
              </a:solidFill>
            </a:endParaRPr>
          </a:p>
        </p:txBody>
      </p:sp>
      <p:sp>
        <p:nvSpPr>
          <p:cNvPr id="32" name="Text 29"/>
          <p:cNvSpPr/>
          <p:nvPr>
            <p:custDataLst>
              <p:tags r:id="rId28"/>
            </p:custDataLst>
          </p:nvPr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chemeClr val="accent1"/>
                </a:solidFill>
              </a:rPr>
              <a:t>Slide 2 / 5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4" name="Title 43"/>
          <p:cNvSpPr txBox="1">
            <a:spLocks noGrp="1"/>
          </p:cNvSpPr>
          <p:nvPr>
            <p:ph type="title" idx="5"/>
            <p:custDataLst>
              <p:tags r:id="rId29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Problem, Dataset &amp; Label Engineering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320040" y="45720"/>
            <a:ext cx="59436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74320" y="1170432"/>
            <a:ext cx="4160520" cy="164592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274320" y="1170432"/>
            <a:ext cx="4160520" cy="365760"/>
          </a:xfrm>
          <a:prstGeom prst="rect">
            <a:avLst/>
          </a:prstGeom>
          <a:solidFill>
            <a:schemeClr val="accent2">
              <a:alpha val="85000"/>
            </a:schemeClr>
          </a:solidFill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384048" y="120700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👤  Demographics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457200" y="160934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age_years (from DOB)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457200" y="1956816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BENE_SEX_IDENT_CD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457200" y="23042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BENE_RACE_CD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4754880" y="1170432"/>
            <a:ext cx="4160520" cy="164592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4754880" y="1170432"/>
            <a:ext cx="4160520" cy="365760"/>
          </a:xfrm>
          <a:prstGeom prst="rect">
            <a:avLst/>
          </a:prstGeom>
          <a:solidFill>
            <a:schemeClr val="accent3">
              <a:alpha val="85000"/>
            </a:schemeClr>
          </a:solidFill>
        </p:spPr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864608" y="120700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🏥  Chronic Conditions (11 SP_ flags)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4937760" y="160934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SP_ALZHDMTA, SP_CHF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4937760" y="1956816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SP_DIABETES, SP_COPD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4937760" y="23042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SP_CNCR, SP_RA_OA + more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274320" y="2999232"/>
            <a:ext cx="4160520" cy="164592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5"/>
            </p:custDataLst>
          </p:nvPr>
        </p:nvSpPr>
        <p:spPr>
          <a:xfrm>
            <a:off x="274320" y="2999232"/>
            <a:ext cx="4160520" cy="365760"/>
          </a:xfrm>
          <a:prstGeom prst="rect">
            <a:avLst/>
          </a:prstGeom>
          <a:solidFill>
            <a:schemeClr val="accent4">
              <a:alpha val="85000"/>
            </a:schemeClr>
          </a:solidFill>
        </p:spPr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384048" y="303580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📋  Refill Behaviour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457200" y="343814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n_prior_fills, gap_prev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457200" y="3785616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avg_gap_hist (expanding mean)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457200" y="41330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gap_var_3 · early_refill ★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24" name="Shape 22"/>
          <p:cNvSpPr/>
          <p:nvPr>
            <p:custDataLst>
              <p:tags r:id="rId20"/>
            </p:custDataLst>
          </p:nvPr>
        </p:nvSpPr>
        <p:spPr>
          <a:xfrm>
            <a:off x="4754880" y="2999232"/>
            <a:ext cx="4160520" cy="164592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accent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4754880" y="2999232"/>
            <a:ext cx="4160520" cy="365760"/>
          </a:xfrm>
          <a:prstGeom prst="rect">
            <a:avLst/>
          </a:prstGeom>
          <a:solidFill>
            <a:schemeClr val="accent5">
              <a:alpha val="85000"/>
            </a:schemeClr>
          </a:solidFill>
        </p:spPr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4864608" y="303580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💊  Cost &amp; Polypharmacy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4937760" y="343814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PTNT_PAY_AMT, TOT_RX_CST_AMT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4937760" y="3785616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n_distinct_drugs_patient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29" name="Text 27"/>
          <p:cNvSpPr/>
          <p:nvPr>
            <p:custDataLst>
              <p:tags r:id="rId25"/>
            </p:custDataLst>
          </p:nvPr>
        </p:nvSpPr>
        <p:spPr>
          <a:xfrm>
            <a:off x="4937760" y="41330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>
                    <a:lumMod val="20000"/>
                    <a:lumOff val="80000"/>
                    <a:hueOff val="9600000"/>
                  </a:schemeClr>
                </a:solidFill>
              </a:rPr>
              <a:t>▸ </a:t>
            </a:r>
            <a:r>
              <a:rPr lang="en-US" sz="1000" dirty="0">
                <a:solidFill>
                  <a:schemeClr val="accent1">
                    <a:lumMod val="20000"/>
                    <a:lumOff val="80000"/>
                    <a:hueOff val="10800000"/>
                  </a:schemeClr>
                </a:solidFill>
              </a:rPr>
              <a:t>poly_90d (rolling 90d) ★</a:t>
            </a:r>
            <a:endParaRPr lang="en-US" sz="1000" dirty="0">
              <a:solidFill>
                <a:schemeClr val="accent1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30" name="Shape 28"/>
          <p:cNvSpPr/>
          <p:nvPr>
            <p:custDataLst>
              <p:tags r:id="rId26"/>
            </p:custDataLst>
          </p:nvPr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chemeClr val="accent2">
              <a:alpha val="80000"/>
            </a:schemeClr>
          </a:solidFill>
        </p:spPr>
      </p:sp>
      <p:sp>
        <p:nvSpPr>
          <p:cNvPr id="31" name="Text 29"/>
          <p:cNvSpPr/>
          <p:nvPr>
            <p:custDataLst>
              <p:tags r:id="rId27"/>
            </p:custDataLst>
          </p:nvPr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</a:rPr>
              <a:t>★ Day 2 features   ·   Total features in final model: ~27   (Day 1: 20 | Day 2: +7)   ·   PR-AUC improved 0.753 → 0.779 (+3.5%) after Day 2</a:t>
            </a:r>
            <a:endParaRPr lang="en-US" sz="900" i="1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8229600" y="504748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chemeClr val="tx1"/>
                </a:solidFill>
              </a:rPr>
              <a:t>Slide 3 / 5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9" name="Title 38"/>
          <p:cNvSpPr txBox="1">
            <a:spLocks noGrp="1"/>
          </p:cNvSpPr>
          <p:nvPr>
            <p:ph type="title" idx="5"/>
            <p:custDataLst>
              <p:tags r:id="rId29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Feature Engineering — 4 Groups + Day 2 Enhancements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320040" y="45720"/>
            <a:ext cx="59436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74320" y="1115568"/>
          <a:ext cx="8595360" cy="1807845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1005840"/>
                <a:gridCol w="731520"/>
                <a:gridCol w="393192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PR-AUC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ROC-AUC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F1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Why Used</a:t>
                      </a:r>
                      <a:endParaRPr lang="en-US" sz="1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0.749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0.570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0.799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Baseline — linear, interpretable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XGBoost (base)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0.753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0.597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0.776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Non-linear, handles imbalance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XGBoost Tuned ★</a:t>
                      </a:r>
                      <a:endParaRPr 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0.779</a:t>
                      </a:r>
                      <a:endParaRPr 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0.611</a:t>
                      </a:r>
                      <a:endParaRPr 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</a:rPr>
                        <a:t>0.768</a:t>
                      </a:r>
                      <a:endParaRPr 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n_est=400, depth=5, lr=0.05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448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i="1" dirty="0">
                          <a:solidFill>
                            <a:schemeClr val="tx1"/>
                          </a:solidFill>
                        </a:rPr>
                        <a:t>+ Calibrated (isotonic)</a:t>
                      </a:r>
                      <a:endParaRPr lang="en-US" sz="9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0.728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0.550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0.838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Prob calibration — threshold ops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274320" y="3090672"/>
            <a:ext cx="4160520" cy="1810512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274320" y="3090672"/>
            <a:ext cx="4160520" cy="347472"/>
          </a:xfrm>
          <a:prstGeom prst="rect">
            <a:avLst/>
          </a:prstGeom>
          <a:solidFill>
            <a:schemeClr val="accent1">
              <a:alpha val="90000"/>
            </a:schemeClr>
          </a:solidFill>
        </p:spPr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384048" y="31181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PR-AUC, not ROC-AUC?</a:t>
            </a:r>
            <a:endParaRPr lang="en-US" sz="110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384048" y="3511296"/>
            <a:ext cx="3931920" cy="1325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chemeClr val="lt1"/>
                </a:solidFill>
              </a:rPr>
              <a:t>With 91% of rows labelled 'late', ROC-AUC can look good for a model that always predicts the majority class. PR-AUC (Precision-Recall) focuses on the minority (on-time) class and gives a more honest picture of performance on imbalanced problems. XGBoost Tuned reaches 0.779 — a meaningful step above the logistic baseline.</a:t>
            </a:r>
            <a:endParaRPr lang="en-US" sz="950" dirty="0">
              <a:solidFill>
                <a:schemeClr val="lt1"/>
              </a:solidFill>
            </a:endParaRPr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4709160" y="3090672"/>
            <a:ext cx="4160520" cy="1810512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4709160" y="3090672"/>
            <a:ext cx="4160520" cy="347472"/>
          </a:xfrm>
          <a:prstGeom prst="rect">
            <a:avLst/>
          </a:prstGeom>
          <a:solidFill>
            <a:schemeClr val="accent1">
              <a:alpha val="90000"/>
            </a:schemeClr>
          </a:solidFill>
        </p:spPr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4818888" y="311810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Validation: Time-Based Split</a:t>
            </a:r>
            <a:endParaRPr lang="en-US" sz="1100" dirty="0"/>
          </a:p>
        </p:txBody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4818888" y="3511296"/>
            <a:ext cx="3931920" cy="1325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chemeClr val="lt1"/>
                </a:solidFill>
              </a:rPr>
              <a:t>Train on fills ≤ 2009-12-31, test on fills &gt; 2009-12-31. This mirrors production: the model will always be asked to predict future fills from past history. Random splits would leak future data into training and inflate scores. Time-split gives an honest, deployable estimate of performance.</a:t>
            </a:r>
            <a:endParaRPr lang="en-US" sz="950" dirty="0">
              <a:solidFill>
                <a:schemeClr val="lt1"/>
              </a:solidFill>
            </a:endParaRPr>
          </a:p>
        </p:txBody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8229600" y="491947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chemeClr val="accent1"/>
                </a:solidFill>
              </a:rPr>
              <a:t>Slide 4 / 5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27" name="Title 26"/>
          <p:cNvSpPr txBox="1">
            <a:spLocks noGrp="1"/>
          </p:cNvSpPr>
          <p:nvPr>
            <p:ph type="title" idx="5"/>
            <p:custDataLst>
              <p:tags r:id="rId12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Modelling &amp; Validation Strategy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320040" y="45720"/>
            <a:ext cx="59436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274320" y="111556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Top SHAP Features (% importance)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274320" y="156362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chemeClr val="accent1"/>
                </a:solidFill>
              </a:rPr>
              <a:t>DAYS_SUPLY_NUM</a:t>
            </a:r>
            <a:endParaRPr lang="en-US" sz="850" dirty="0">
              <a:solidFill>
                <a:schemeClr val="accent1"/>
              </a:solidFill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1874520" y="1563624"/>
            <a:ext cx="2560320" cy="256032"/>
          </a:xfrm>
          <a:prstGeom prst="rect">
            <a:avLst/>
          </a:prstGeom>
          <a:solidFill>
            <a:schemeClr val="accent3"/>
          </a:solidFill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4480560" y="156362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14.1%</a:t>
            </a:r>
            <a:endParaRPr lang="en-US" sz="850" b="1" dirty="0">
              <a:solidFill>
                <a:schemeClr val="accent1"/>
              </a:solidFill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274320" y="19659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chemeClr val="accent1"/>
                </a:solidFill>
              </a:rPr>
              <a:t>SP_OSTEOPRS</a:t>
            </a:r>
            <a:endParaRPr lang="en-US" sz="850" dirty="0">
              <a:solidFill>
                <a:schemeClr val="accent1"/>
              </a:solidFill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1874520" y="1965960"/>
            <a:ext cx="1053181" cy="256032"/>
          </a:xfrm>
          <a:prstGeom prst="rect">
            <a:avLst/>
          </a:prstGeom>
          <a:solidFill>
            <a:schemeClr val="accent4"/>
          </a:solidFill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2973421" y="19659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5.8%</a:t>
            </a:r>
            <a:endParaRPr lang="en-US" sz="850" b="1" dirty="0">
              <a:solidFill>
                <a:schemeClr val="accent1"/>
              </a:solidFill>
            </a:endParaRPr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274320" y="236829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chemeClr val="accent1"/>
                </a:solidFill>
              </a:rPr>
              <a:t>SP_COPD</a:t>
            </a:r>
            <a:endParaRPr lang="en-US" sz="850" dirty="0">
              <a:solidFill>
                <a:schemeClr val="accent1"/>
              </a:solidFill>
            </a:endParaRPr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1874520" y="2368296"/>
            <a:ext cx="980548" cy="256032"/>
          </a:xfrm>
          <a:prstGeom prst="rect">
            <a:avLst/>
          </a:prstGeom>
          <a:solidFill>
            <a:schemeClr val="accent5"/>
          </a:solidFill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2900788" y="236829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5.4%</a:t>
            </a:r>
            <a:endParaRPr lang="en-US" sz="850" b="1" dirty="0">
              <a:solidFill>
                <a:schemeClr val="accent1"/>
              </a:solidFill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274320" y="277063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chemeClr val="accent1"/>
                </a:solidFill>
              </a:rPr>
              <a:t>SP_RA_OA</a:t>
            </a:r>
            <a:endParaRPr lang="en-US" sz="850" dirty="0">
              <a:solidFill>
                <a:schemeClr val="accent1"/>
              </a:solidFill>
            </a:endParaRPr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1874520" y="2770632"/>
            <a:ext cx="962390" cy="256032"/>
          </a:xfrm>
          <a:prstGeom prst="rect">
            <a:avLst/>
          </a:prstGeom>
          <a:solidFill>
            <a:schemeClr val="accent5"/>
          </a:solidFill>
        </p:spPr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2882630" y="277063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5.3%</a:t>
            </a:r>
            <a:endParaRPr lang="en-US" sz="850" b="1" dirty="0">
              <a:solidFill>
                <a:schemeClr val="accent1"/>
              </a:solidFill>
            </a:endParaRPr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274320" y="317296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chemeClr val="accent1"/>
                </a:solidFill>
              </a:rPr>
              <a:t>SP_ALZHDMTA</a:t>
            </a:r>
            <a:endParaRPr lang="en-US" sz="850" dirty="0">
              <a:solidFill>
                <a:schemeClr val="accent1"/>
              </a:solidFill>
            </a:endParaRPr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1874520" y="3172968"/>
            <a:ext cx="944231" cy="256032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2864471" y="317296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5.2%</a:t>
            </a:r>
            <a:endParaRPr lang="en-US" sz="850" b="1" dirty="0">
              <a:solidFill>
                <a:schemeClr val="accent1"/>
              </a:solidFill>
            </a:endParaRPr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274320" y="357530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chemeClr val="accent1"/>
                </a:solidFill>
              </a:rPr>
              <a:t>age_years</a:t>
            </a:r>
            <a:endParaRPr lang="en-US" sz="850" dirty="0">
              <a:solidFill>
                <a:schemeClr val="accent1"/>
              </a:solidFill>
            </a:endParaRPr>
          </a:p>
        </p:txBody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1874520" y="3575304"/>
            <a:ext cx="853440" cy="256032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2773680" y="35753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4.7%</a:t>
            </a:r>
            <a:endParaRPr lang="en-US" sz="850" b="1" dirty="0">
              <a:solidFill>
                <a:schemeClr val="accent1"/>
              </a:solidFill>
            </a:endParaRPr>
          </a:p>
        </p:txBody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274320" y="39776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chemeClr val="accent1"/>
                </a:solidFill>
              </a:rPr>
              <a:t>PTNT_PAY_AMT</a:t>
            </a:r>
            <a:endParaRPr lang="en-US" sz="850" dirty="0">
              <a:solidFill>
                <a:schemeClr val="accent1"/>
              </a:solidFill>
            </a:endParaRPr>
          </a:p>
        </p:txBody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1874520" y="3977640"/>
            <a:ext cx="726332" cy="256032"/>
          </a:xfrm>
          <a:prstGeom prst="rect">
            <a:avLst/>
          </a:prstGeom>
          <a:solidFill>
            <a:schemeClr val="accent6"/>
          </a:solidFill>
        </p:spPr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2646572" y="397764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4%</a:t>
            </a:r>
            <a:endParaRPr lang="en-US" sz="850" b="1" dirty="0">
              <a:solidFill>
                <a:schemeClr val="accent1"/>
              </a:solidFill>
            </a:endParaRPr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274320" y="437997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chemeClr val="accent1"/>
                </a:solidFill>
              </a:rPr>
              <a:t>adherence_score</a:t>
            </a:r>
            <a:endParaRPr lang="en-US" sz="850" dirty="0">
              <a:solidFill>
                <a:schemeClr val="accent1"/>
              </a:solidFill>
            </a:endParaRPr>
          </a:p>
        </p:txBody>
      </p:sp>
      <p:sp>
        <p:nvSpPr>
          <p:cNvPr id="29" name="Shape 27"/>
          <p:cNvSpPr/>
          <p:nvPr>
            <p:custDataLst>
              <p:tags r:id="rId25"/>
            </p:custDataLst>
          </p:nvPr>
        </p:nvSpPr>
        <p:spPr>
          <a:xfrm>
            <a:off x="1874520" y="4379976"/>
            <a:ext cx="708174" cy="256032"/>
          </a:xfrm>
          <a:prstGeom prst="rect">
            <a:avLst/>
          </a:prstGeom>
          <a:solidFill>
            <a:schemeClr val="accent4"/>
          </a:solidFill>
        </p:spPr>
      </p:sp>
      <p:sp>
        <p:nvSpPr>
          <p:cNvPr id="30" name="Text 28"/>
          <p:cNvSpPr/>
          <p:nvPr>
            <p:custDataLst>
              <p:tags r:id="rId26"/>
            </p:custDataLst>
          </p:nvPr>
        </p:nvSpPr>
        <p:spPr>
          <a:xfrm>
            <a:off x="2628414" y="437997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3.9%</a:t>
            </a:r>
            <a:endParaRPr lang="en-US" sz="850" b="1" dirty="0">
              <a:solidFill>
                <a:schemeClr val="accent1"/>
              </a:solidFill>
            </a:endParaRPr>
          </a:p>
        </p:txBody>
      </p:sp>
      <p:sp>
        <p:nvSpPr>
          <p:cNvPr id="31" name="Shape 29"/>
          <p:cNvSpPr/>
          <p:nvPr>
            <p:custDataLst>
              <p:tags r:id="rId27"/>
            </p:custDataLst>
          </p:nvPr>
        </p:nvSpPr>
        <p:spPr>
          <a:xfrm>
            <a:off x="274320" y="4736592"/>
            <a:ext cx="4160520" cy="256032"/>
          </a:xfrm>
          <a:prstGeom prst="rect">
            <a:avLst/>
          </a:prstGeom>
          <a:solidFill>
            <a:schemeClr val="accent3">
              <a:alpha val="75000"/>
            </a:schemeClr>
          </a:solidFill>
        </p:spPr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274320" y="4736592"/>
            <a:ext cx="4160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i="1" dirty="0">
                <a:solidFill>
                  <a:schemeClr val="bg1"/>
                </a:solidFill>
              </a:rPr>
              <a:t>SHAP waterfall shows per-patient explanation · DAYS_SUPLY_NUM top driver — longer supply = lower adherence window pressure</a:t>
            </a:r>
            <a:endParaRPr lang="en-US" sz="800" i="1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>
            <p:custDataLst>
              <p:tags r:id="rId29"/>
            </p:custDataLst>
          </p:nvPr>
        </p:nvSpPr>
        <p:spPr>
          <a:xfrm>
            <a:off x="4663440" y="111556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Known Caveats &amp; Next Steps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34" name="Shape 32"/>
          <p:cNvSpPr/>
          <p:nvPr>
            <p:custDataLst>
              <p:tags r:id="rId30"/>
            </p:custDataLst>
          </p:nvPr>
        </p:nvSpPr>
        <p:spPr>
          <a:xfrm>
            <a:off x="4663440" y="1508760"/>
            <a:ext cx="4206240" cy="594360"/>
          </a:xfrm>
          <a:prstGeom prst="rect">
            <a:avLst/>
          </a:prstGeom>
          <a:solidFill>
            <a:schemeClr val="accent2"/>
          </a:solidFill>
          <a:ln w="10160">
            <a:solidFill>
              <a:schemeClr val="accent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>
            <p:custDataLst>
              <p:tags r:id="rId31"/>
            </p:custDataLst>
          </p:nvPr>
        </p:nvSpPr>
        <p:spPr>
          <a:xfrm>
            <a:off x="4773168" y="153619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⚠️  ROC-AUC vs PR-AUC disconnect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36" name="Text 34"/>
          <p:cNvSpPr/>
          <p:nvPr>
            <p:custDataLst>
              <p:tags r:id="rId32"/>
            </p:custDataLst>
          </p:nvPr>
        </p:nvSpPr>
        <p:spPr>
          <a:xfrm>
            <a:off x="4773168" y="17830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ROC-AUC of 0.57 (near random) while PR-AUC = 0.78. Model struggles to rank on-time patients precisely — a known challenge for 91% majority class.</a:t>
            </a:r>
            <a:endParaRPr lang="en-US" sz="850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206240" cy="594360"/>
          </a:xfrm>
          <a:prstGeom prst="rect">
            <a:avLst/>
          </a:prstGeom>
          <a:solidFill>
            <a:schemeClr val="accent2"/>
          </a:solidFill>
          <a:ln w="10160">
            <a:solidFill>
              <a:schemeClr val="accent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>
            <p:custDataLst>
              <p:tags r:id="rId33"/>
            </p:custDataLst>
          </p:nvPr>
        </p:nvSpPr>
        <p:spPr>
          <a:xfrm>
            <a:off x="4773168" y="222199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❓  Label validity — 91% late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39" name="Text 37"/>
          <p:cNvSpPr/>
          <p:nvPr>
            <p:custDataLst>
              <p:tags r:id="rId34"/>
            </p:custDataLst>
          </p:nvPr>
        </p:nvSpPr>
        <p:spPr>
          <a:xfrm>
            <a:off x="4773168" y="24688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Real-world adherence is 50–80%. 91.3% may reflect too-tight grace period or CMS high-risk population. Explore 14-day grace.</a:t>
            </a:r>
            <a:endParaRPr lang="en-US" sz="850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663440" y="2880360"/>
            <a:ext cx="4206240" cy="594360"/>
          </a:xfrm>
          <a:prstGeom prst="rect">
            <a:avLst/>
          </a:prstGeom>
          <a:solidFill>
            <a:schemeClr val="accent2"/>
          </a:solidFill>
          <a:ln w="10160">
            <a:solidFill>
              <a:schemeClr val="accent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>
            <p:custDataLst>
              <p:tags r:id="rId35"/>
            </p:custDataLst>
          </p:nvPr>
        </p:nvSpPr>
        <p:spPr>
          <a:xfrm>
            <a:off x="4773168" y="290779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⚠️  Calibrated model always predicts late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42" name="Text 40"/>
          <p:cNvSpPr/>
          <p:nvPr>
            <p:custDataLst>
              <p:tags r:id="rId36"/>
            </p:custDataLst>
          </p:nvPr>
        </p:nvSpPr>
        <p:spPr>
          <a:xfrm>
            <a:off x="4773168" y="31546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Isotonic calibration achieved Recall=1.0 / F1=0.84 by predicting every patient as late. Operationally useless — do not deploy calibrated version as classifier.</a:t>
            </a:r>
            <a:endParaRPr lang="en-US" sz="850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594360"/>
          </a:xfrm>
          <a:prstGeom prst="rect">
            <a:avLst/>
          </a:prstGeom>
          <a:solidFill>
            <a:schemeClr val="accent2"/>
          </a:solidFill>
          <a:ln w="10160">
            <a:solidFill>
              <a:schemeClr val="accent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>
            <p:custDataLst>
              <p:tags r:id="rId37"/>
            </p:custDataLst>
          </p:nvPr>
        </p:nvSpPr>
        <p:spPr>
          <a:xfrm>
            <a:off x="4773168" y="359359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💡  NDC codes not normalised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45" name="Text 43"/>
          <p:cNvSpPr/>
          <p:nvPr>
            <p:custDataLst>
              <p:tags r:id="rId38"/>
            </p:custDataLst>
          </p:nvPr>
        </p:nvSpPr>
        <p:spPr>
          <a:xfrm>
            <a:off x="4773168" y="38404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Same drug in 30-tab vs 90-tab packs has different NDC. Strip last 2 digits &amp; group by drug class to improve gap calculations.</a:t>
            </a:r>
            <a:endParaRPr lang="en-US" sz="850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46" name="Shape 44"/>
          <p:cNvSpPr/>
          <p:nvPr>
            <p:custDataLst>
              <p:tags r:id="rId39"/>
            </p:custDataLst>
          </p:nvPr>
        </p:nvSpPr>
        <p:spPr>
          <a:xfrm>
            <a:off x="4663440" y="4251960"/>
            <a:ext cx="4206240" cy="594360"/>
          </a:xfrm>
          <a:prstGeom prst="rect">
            <a:avLst/>
          </a:prstGeom>
          <a:solidFill>
            <a:schemeClr val="accent2"/>
          </a:solidFill>
          <a:ln w="10160">
            <a:solidFill>
              <a:schemeClr val="accent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>
            <p:custDataLst>
              <p:tags r:id="rId40"/>
            </p:custDataLst>
          </p:nvPr>
        </p:nvSpPr>
        <p:spPr>
          <a:xfrm>
            <a:off x="4773168" y="427939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🔜  Next steps</a:t>
            </a:r>
            <a:endParaRPr lang="en-US" sz="900" b="1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48" name="Text 46"/>
          <p:cNvSpPr/>
          <p:nvPr>
            <p:custDataLst>
              <p:tags r:id="rId41"/>
            </p:custDataLst>
          </p:nvPr>
        </p:nvSpPr>
        <p:spPr>
          <a:xfrm>
            <a:off x="4773168" y="4526280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20000"/>
                    <a:lumOff val="80000"/>
                    <a:hueOff val="10800000"/>
                  </a:schemeClr>
                </a:solidFill>
              </a:rPr>
              <a:t>Threshold optimisation on PR curve · SHAP partial dependence on DAYS_SUPLY_NUM · Survival model for time-to-refill · A/B test outreach triggers.</a:t>
            </a:r>
            <a:endParaRPr lang="en-US" sz="850" dirty="0">
              <a:solidFill>
                <a:schemeClr val="accent2">
                  <a:lumMod val="20000"/>
                  <a:lumOff val="80000"/>
                  <a:hueOff val="10800000"/>
                </a:schemeClr>
              </a:solidFill>
            </a:endParaRPr>
          </a:p>
        </p:txBody>
      </p:sp>
      <p:sp>
        <p:nvSpPr>
          <p:cNvPr id="49" name="Text 47"/>
          <p:cNvSpPr/>
          <p:nvPr>
            <p:custDataLst>
              <p:tags r:id="rId42"/>
            </p:custDataLst>
          </p:nvPr>
        </p:nvSpPr>
        <p:spPr>
          <a:xfrm>
            <a:off x="8229600" y="504748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chemeClr val="tx1"/>
                </a:solidFill>
              </a:rPr>
              <a:t>Slide 5 / 5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56" name="Title 55"/>
          <p:cNvSpPr txBox="1">
            <a:spLocks noGrp="1"/>
          </p:cNvSpPr>
          <p:nvPr>
            <p:ph type="title" idx="5"/>
            <p:custDataLst>
              <p:tags r:id="rId43"/>
            </p:custDataLst>
          </p:nvPr>
        </p:nvSpPr>
        <p:spPr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2"/>
                </a:solidFill>
                <a:uFillTx/>
                <a:latin typeface="+mj-lt"/>
              </a:defRPr>
            </a:lvl1pPr>
          </a:lstStyle>
          <a:p>
            <a:pPr lvl="0" algn="l"/>
            <a:r>
              <a:rPr>
                <a:ea typeface="+mj-ea"/>
                <a:cs typeface="+mn-ea"/>
                <a:sym typeface="+mn-ea"/>
              </a:rPr>
              <a:t>Results, Explainability &amp; Caveats</a:t>
            </a:r>
            <a:endParaRPr>
              <a:ea typeface="+mj-ea"/>
              <a:cs typeface="+mn-ea"/>
              <a:sym typeface="+mn-ea"/>
            </a:endParaRPr>
          </a:p>
        </p:txBody>
      </p:sp>
    </p:spTree>
    <p:custDataLst>
      <p:tags r:id="rId4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</p:tagLst>
</file>

<file path=ppt/tags/tag13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8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2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UNIT_TYPE" val="i"/>
  <p:tag name="KSO_WM_UNIT_INDEX" val="1"/>
  <p:tag name="KSO_WM_UNIT_CONTENT_GROUP_TYPE" val="titlestyle"/>
</p:tagLst>
</file>

<file path=ppt/tags/tag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UNIT_TYPE" val="i"/>
  <p:tag name="KSO_WM_UNIT_INDEX" val="2"/>
  <p:tag name="KSO_WM_UNIT_CONTENT_GROUP_TYPE" val="titlestyle"/>
</p:tagLst>
</file>

<file path=ppt/tags/tag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UNIT_TYPE" val="i"/>
  <p:tag name="KSO_WM_UNIT_INDEX" val="3"/>
  <p:tag name="KSO_WM_UNIT_CONTENT_GROUP_TYPE" val="titlestyle"/>
</p:tagLst>
</file>

<file path=ppt/tags/tag2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TYPE" val="i"/>
  <p:tag name="KSO_WM_UNIT_INDEX" val="3"/>
</p:tagLst>
</file>

<file path=ppt/tags/tag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UNIT_TYPE" val="i"/>
  <p:tag name="KSO_WM_UNIT_INDEX" val="4"/>
</p:tagLst>
</file>

<file path=ppt/tags/tag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UNIT_TYPE" val="i"/>
  <p:tag name="KSO_WM_UNIT_INDEX" val="5"/>
</p:tagLst>
</file>

<file path=ppt/tags/tag3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  <p:tag name="KSO_WM_UNIT_TYPE" val="i"/>
  <p:tag name="KSO_WM_UNIT_INDEX" val="6"/>
</p:tagLst>
</file>

<file path=ppt/tags/tag3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  <p:tag name="KSO_WM_UNIT_TYPE" val="i"/>
  <p:tag name="KSO_WM_UNIT_INDEX" val="7"/>
</p:tagLst>
</file>

<file path=ppt/tags/tag3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4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4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UNIT_TYPE" val="i"/>
  <p:tag name="KSO_WM_UNIT_INDEX" val="5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UNIT_TYPE" val="i"/>
  <p:tag name="KSO_WM_UNIT_INDEX" val="6"/>
</p:tagLst>
</file>

<file path=ppt/tags/tag4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UNIT_TYPE" val="i"/>
  <p:tag name="KSO_WM_UNIT_INDEX" val="7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UNIT_TYPE" val="i"/>
  <p:tag name="KSO_WM_UNIT_INDEX" val="10"/>
</p:tagLst>
</file>

<file path=ppt/tags/tag52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UNIT_TYPE" val="i"/>
  <p:tag name="KSO_WM_UNIT_INDEX" val="11"/>
</p:tagLst>
</file>

<file path=ppt/tags/tag53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8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UNIT_TYPE" val="i"/>
  <p:tag name="KSO_WM_UNIT_INDEX" val="12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55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6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76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7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7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7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8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8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9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10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CONTENT_GROUP_TYPE" val="titlestyle"/>
  <p:tag name="KSO_WM_UNIT_TYPE" val="i"/>
  <p:tag name="KSO_WM_UNIT_INDEX" val="1"/>
</p:tagLst>
</file>

<file path=ppt/tags/tag1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1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0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12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</p:tagLst>
</file>

<file path=ppt/tags/tag1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</p:tagLst>
</file>

<file path=ppt/tags/tag1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</p:tagLst>
</file>

<file path=ppt/tags/tag117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5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UNIT_TYPE" val="i"/>
  <p:tag name="KSO_WM_UNIT_INDEX" val="6"/>
</p:tagLst>
</file>

<file path=ppt/tags/tag118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8"/>
  <p:tag name="KSO_WM_UNIT_FILL_TYPE" val="1"/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UNIT_TYPE" val="i"/>
  <p:tag name="KSO_WM_UNIT_INDEX" val="7"/>
</p:tagLst>
</file>

<file path=ppt/tags/tag119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UNIT_TYPE" val="i"/>
  <p:tag name="KSO_WM_UNIT_INDEX" val="8"/>
</p:tagLst>
</file>

<file path=ppt/tags/tag12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TYPE" val="i"/>
  <p:tag name="KSO_WM_UNIT_INDEX" val="9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UNIT_CONTENT_GROUP_TYPE" val="titlestyle"/>
  <p:tag name="KSO_WM_UNIT_TYPE" val="i"/>
  <p:tag name="KSO_WM_UNIT_INDEX" val="2"/>
</p:tagLst>
</file>

<file path=ppt/tags/tag1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UNIT_CONTENT_GROUP_TYPE" val="titlestyle"/>
  <p:tag name="KSO_WM_UNIT_TYPE" val="i"/>
  <p:tag name="KSO_WM_UNIT_INDEX" val="3"/>
</p:tagLst>
</file>

<file path=ppt/tags/tag1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UNIT_CONTENT_GROUP_TYPE" val="titlestyle"/>
  <p:tag name="KSO_WM_UNIT_TYPE" val="i"/>
  <p:tag name="KSO_WM_UNIT_INDEX" val="4"/>
</p:tagLst>
</file>

<file path=ppt/tags/tag1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5"/>
  <p:tag name="KSO_WM_UNIT_LAYERLEVEL" val="1"/>
  <p:tag name="KSO_WM_TAG_VERSION" val="3.0"/>
  <p:tag name="KSO_WM_UNIT_CONTENT_GROUP_TYPE" val="titlestyle"/>
  <p:tag name="KSO_WM_UNIT_TYPE" val="i"/>
  <p:tag name="KSO_WM_UNIT_INDEX" val="5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3437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437"/>
</p:tagLst>
</file>

<file path=ppt/tags/tag136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37"/>
  <p:tag name="KSO_WM_TEMPLATE_THUMBS_INDEX" val="1、9"/>
  <p:tag name="KSO_WM_SPECIAL_SOURCE" val="bdnull"/>
</p:tagLst>
</file>

<file path=ppt/tags/tag137.xml><?xml version="1.0" encoding="utf-8"?>
<p:tagLst xmlns:p="http://schemas.openxmlformats.org/presentationml/2006/main">
  <p:tag name="KSO_WM_UNIT_INDEX" val="3"/>
  <p:tag name="KSO_WM_UNIT_TYPE" val="i"/>
  <p:tag name="KSO_WM_UNIT_SUBTYPE" val="h"/>
  <p:tag name="KSO_WM_BEAUTIFY_FLAG" val="#wm#"/>
</p:tagLst>
</file>

<file path=ppt/tags/tag138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139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40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14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</p:tagLst>
</file>

<file path=ppt/tags/tag144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3*l_h_i*1_1_2"/>
  <p:tag name="KSO_WM_TEMPLATE_INDEX" val="19882022"/>
  <p:tag name="KSO_WM_TAG_VERSION" val="2.0"/>
  <p:tag name="KSO_WM_DIAGRAM_GROUP_CODE" val="l1-1"/>
</p:tagLst>
</file>

<file path=ppt/tags/tag145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3*l_h_a*1_1_1"/>
  <p:tag name="KSO_WM_TEMPLATE_INDEX" val="19882022"/>
  <p:tag name="KSO_WM_TAG_VERSION" val="2.0"/>
  <p:tag name="KSO_WM_DIAGRAM_GROUP_CODE" val="l1-1"/>
</p:tagLst>
</file>

<file path=ppt/tags/tag146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3*l_h_f*1_1_2"/>
  <p:tag name="KSO_WM_TEMPLATE_INDEX" val="19882022"/>
  <p:tag name="KSO_WM_TAG_VERSION" val="2.0"/>
  <p:tag name="KSO_WM_DIAGRAM_GROUP_CODE" val="l1-1"/>
</p:tagLst>
</file>

<file path=ppt/tags/tag147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</p:tagLst>
</file>

<file path=ppt/tags/tag148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</p:tagLst>
</file>

<file path=ppt/tags/tag149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3*l_h_i*1_2_2"/>
  <p:tag name="KSO_WM_TEMPLATE_INDEX" val="19882022"/>
  <p:tag name="KSO_WM_TAG_VERSION" val="2.0"/>
  <p:tag name="KSO_WM_DIAGRAM_GROUP_CODE" val="l1-1"/>
</p:tagLst>
</file>

<file path=ppt/tags/tag150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3*l_h_a*1_2_1"/>
  <p:tag name="KSO_WM_TEMPLATE_INDEX" val="19882022"/>
  <p:tag name="KSO_WM_TAG_VERSION" val="2.0"/>
  <p:tag name="KSO_WM_DIAGRAM_GROUP_CODE" val="l1-1"/>
</p:tagLst>
</file>

<file path=ppt/tags/tag151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3*l_h_f*1_2_2"/>
  <p:tag name="KSO_WM_TEMPLATE_INDEX" val="19882022"/>
  <p:tag name="KSO_WM_TAG_VERSION" val="2.0"/>
  <p:tag name="KSO_WM_DIAGRAM_GROUP_CODE" val="l1-1"/>
</p:tagLst>
</file>

<file path=ppt/tags/tag152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</p:tagLst>
</file>

<file path=ppt/tags/tag153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</p:tagLst>
</file>

<file path=ppt/tags/tag154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3*l_h_i*1_3_2"/>
  <p:tag name="KSO_WM_TEMPLATE_INDEX" val="19882022"/>
  <p:tag name="KSO_WM_TAG_VERSION" val="2.0"/>
  <p:tag name="KSO_WM_DIAGRAM_GROUP_CODE" val="l1-1"/>
</p:tagLst>
</file>

<file path=ppt/tags/tag155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3*l_h_a*1_3_1"/>
  <p:tag name="KSO_WM_TEMPLATE_INDEX" val="19882022"/>
  <p:tag name="KSO_WM_TAG_VERSION" val="2.0"/>
  <p:tag name="KSO_WM_DIAGRAM_GROUP_CODE" val="l1-1"/>
</p:tagLst>
</file>

<file path=ppt/tags/tag156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3*l_h_f*1_3_2"/>
  <p:tag name="KSO_WM_TEMPLATE_INDEX" val="19882022"/>
  <p:tag name="KSO_WM_TAG_VERSION" val="2.0"/>
  <p:tag name="KSO_WM_DIAGRAM_GROUP_CODE" val="l1-1"/>
</p:tagLst>
</file>

<file path=ppt/tags/tag157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</p:tagLst>
</file>

<file path=ppt/tags/tag158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60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</p:tagLst>
</file>

<file path=ppt/tags/tag162.xml><?xml version="1.0" encoding="utf-8"?>
<p:tagLst xmlns:p="http://schemas.openxmlformats.org/presentationml/2006/main">
  <p:tag name="KSO_WM_SLIDE_TYPE" val="text"/>
  <p:tag name="KSO_WM_BEAUTIFY_FLAG" val="#wm#"/>
  <p:tag name="KSO_WM_SLIDE_THEME_ID" val="3303377"/>
  <p:tag name="KSO_WM_SLIDE_THEME_NAME" val="Purple Business"/>
</p:tagLst>
</file>

<file path=ppt/tags/tag163.xml><?xml version="1.0" encoding="utf-8"?>
<p:tagLst xmlns:p="http://schemas.openxmlformats.org/presentationml/2006/main">
  <p:tag name="KSO_WM_UNIT_INDEX" val="2"/>
  <p:tag name="KSO_WM_UNIT_TYPE" val="a"/>
  <p:tag name="KSO_WM_UNIT_SUBTYPE" val="a"/>
  <p:tag name="KSO_WM_BEAUTIFY_FLAG" val="#wm#"/>
</p:tagLst>
</file>

<file path=ppt/tags/tag164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167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168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70.xml><?xml version="1.0" encoding="utf-8"?>
<p:tagLst xmlns:p="http://schemas.openxmlformats.org/presentationml/2006/main">
  <p:tag name="KSO_WM_UNIT_INDEX" val="19"/>
  <p:tag name="KSO_WM_UNIT_TYPE" val="β"/>
  <p:tag name="KSO_WM_BEAUTIFY_FLAG" val="#wm#"/>
</p:tagLst>
</file>

<file path=ppt/tags/tag171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72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17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74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175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76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77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178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179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8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81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</p:tagLst>
</file>

<file path=ppt/tags/tag182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3*l_h_a*1_1_1"/>
  <p:tag name="KSO_WM_TEMPLATE_INDEX" val="19882022"/>
  <p:tag name="KSO_WM_TAG_VERSION" val="2.0"/>
  <p:tag name="KSO_WM_DIAGRAM_GROUP_CODE" val="l1-1"/>
</p:tagLst>
</file>

<file path=ppt/tags/tag183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</p:tagLst>
</file>

<file path=ppt/tags/tag184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</p:tagLst>
</file>

<file path=ppt/tags/tag185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3*l_h_a*1_2_1"/>
  <p:tag name="KSO_WM_TEMPLATE_INDEX" val="19882022"/>
  <p:tag name="KSO_WM_TAG_VERSION" val="2.0"/>
  <p:tag name="KSO_WM_DIAGRAM_GROUP_CODE" val="l1-1"/>
</p:tagLst>
</file>

<file path=ppt/tags/tag186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</p:tagLst>
</file>

<file path=ppt/tags/tag187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</p:tagLst>
</file>

<file path=ppt/tags/tag188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3*l_h_a*1_3_1"/>
  <p:tag name="KSO_WM_TEMPLATE_INDEX" val="19882022"/>
  <p:tag name="KSO_WM_TAG_VERSION" val="2.0"/>
  <p:tag name="KSO_WM_DIAGRAM_GROUP_CODE" val="l1-1"/>
</p:tagLst>
</file>

<file path=ppt/tags/tag189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</p:tagLst>
</file>

<file path=ppt/tags/tag190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191.xml><?xml version="1.0" encoding="utf-8"?>
<p:tagLst xmlns:p="http://schemas.openxmlformats.org/presentationml/2006/main">
  <p:tag name="KSO_WM_UNIT_TEXT" val="Prescription Adherence&#13;Risk Modelling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192.xml><?xml version="1.0" encoding="utf-8"?>
<p:tagLst xmlns:p="http://schemas.openxmlformats.org/presentationml/2006/main">
  <p:tag name="KSO_WM_SLIDE_TYPE" val="text"/>
  <p:tag name="KSO_WM_BEAUTIFY_FLAG" val="#wm#"/>
</p:tagLst>
</file>

<file path=ppt/tags/tag19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94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195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196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97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98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99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20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01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20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03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0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0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06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07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208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209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210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211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212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213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214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15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21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217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218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219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220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22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222.xml><?xml version="1.0" encoding="utf-8"?>
<p:tagLst xmlns:p="http://schemas.openxmlformats.org/presentationml/2006/main">
  <p:tag name="KSO_WM_SLIDE_TYPE" val="text"/>
  <p:tag name="KSO_WM_BEAUTIFY_FLAG" val="#wm#"/>
</p:tagLst>
</file>

<file path=ppt/tags/tag22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24.xml><?xml version="1.0" encoding="utf-8"?>
<p:tagLst xmlns:p="http://schemas.openxmlformats.org/presentationml/2006/main">
  <p:tag name="KSO_WM_UNIT_INDEX" val="5"/>
  <p:tag name="KSO_WM_UNIT_TYPE" val="β"/>
  <p:tag name="KSO_WM_BEAUTIFY_FLAG" val="#wm#"/>
</p:tagLst>
</file>

<file path=ppt/tags/tag225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2*l_h_i*1_1_1"/>
  <p:tag name="KSO_WM_TEMPLATE_INDEX" val="19882022"/>
  <p:tag name="KSO_WM_TAG_VERSION" val="2.0"/>
  <p:tag name="KSO_WM_DIAGRAM_GROUP_CODE" val="l1-1"/>
</p:tagLst>
</file>

<file path=ppt/tags/tag226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2*l_h_i*1_1_2"/>
  <p:tag name="KSO_WM_TEMPLATE_INDEX" val="19882022"/>
  <p:tag name="KSO_WM_TAG_VERSION" val="2.0"/>
  <p:tag name="KSO_WM_DIAGRAM_GROUP_CODE" val="l1-1"/>
</p:tagLst>
</file>

<file path=ppt/tags/tag227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2*l_h_a*1_1_1"/>
  <p:tag name="KSO_WM_TEMPLATE_INDEX" val="19882022"/>
  <p:tag name="KSO_WM_TAG_VERSION" val="2.0"/>
  <p:tag name="KSO_WM_DIAGRAM_GROUP_CODE" val="l1-1"/>
</p:tagLst>
</file>

<file path=ppt/tags/tag228.xml><?xml version="1.0" encoding="utf-8"?>
<p:tagLst xmlns:p="http://schemas.openxmlformats.org/presentationml/2006/main">
  <p:tag name="KSO_WM_BEAUTIFY_FLAG" val="#wm#"/>
  <p:tag name="KSO_WM_UNIT_TYPE" val="l_h_f"/>
  <p:tag name="KSO_WM_UNIT_INDEX" val="1_1_2"/>
  <p:tag name="KSO_WM_UNIT_ID" val="diagram19882022_2*l_h_f*1_1_2"/>
  <p:tag name="KSO_WM_TEMPLATE_INDEX" val="19882022"/>
  <p:tag name="KSO_WM_TAG_VERSION" val="2.0"/>
  <p:tag name="KSO_WM_DIAGRAM_GROUP_CODE" val="l1-1"/>
</p:tagLst>
</file>

<file path=ppt/tags/tag229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2*l_h_i*1_2_1"/>
  <p:tag name="KSO_WM_TEMPLATE_INDEX" val="19882022"/>
  <p:tag name="KSO_WM_TAG_VERSION" val="2.0"/>
  <p:tag name="KSO_WM_DIAGRAM_GROUP_CODE" val="l1-1"/>
</p:tagLst>
</file>

<file path=ppt/tags/tag230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2*l_h_i*1_2_2"/>
  <p:tag name="KSO_WM_TEMPLATE_INDEX" val="19882022"/>
  <p:tag name="KSO_WM_TAG_VERSION" val="2.0"/>
  <p:tag name="KSO_WM_DIAGRAM_GROUP_CODE" val="l1-1"/>
</p:tagLst>
</file>

<file path=ppt/tags/tag231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2*l_h_a*1_2_1"/>
  <p:tag name="KSO_WM_TEMPLATE_INDEX" val="19882022"/>
  <p:tag name="KSO_WM_TAG_VERSION" val="2.0"/>
  <p:tag name="KSO_WM_DIAGRAM_GROUP_CODE" val="l1-1"/>
</p:tagLst>
</file>

<file path=ppt/tags/tag232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2*l_h_f*1_2_2"/>
  <p:tag name="KSO_WM_TEMPLATE_INDEX" val="19882022"/>
  <p:tag name="KSO_WM_TAG_VERSION" val="2.0"/>
  <p:tag name="KSO_WM_DIAGRAM_GROUP_CODE" val="l1-1"/>
</p:tagLst>
</file>

<file path=ppt/tags/tag233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34.xml><?xml version="1.0" encoding="utf-8"?>
<p:tagLst xmlns:p="http://schemas.openxmlformats.org/presentationml/2006/main">
  <p:tag name="KSO_WM_UNIT_TEXT" val="Problem, Dataset &amp; Label Engineering"/>
  <p:tag name="KSO_WM_UNIT_INDEX" val="1"/>
  <p:tag name="KSO_WM_UNIT_TYPE" val="a"/>
  <p:tag name="KSO_WM_BEAUTIFY_FLAG" val="#wm#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CONTENT_GROUP_TYPE" val="titlestyle"/>
  <p:tag name="KSO_WM_UNIT_PRESET_TEXT" val="单击此处添加标题"/>
</p:tagLst>
</file>

<file path=ppt/tags/tag235.xml><?xml version="1.0" encoding="utf-8"?>
<p:tagLst xmlns:p="http://schemas.openxmlformats.org/presentationml/2006/main">
  <p:tag name="KSO_WM_SLIDE_TYPE" val="text"/>
  <p:tag name="KSO_WM_BEAUTIFY_FLAG" val="#wm#"/>
</p:tagLst>
</file>

<file path=ppt/tags/tag236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37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3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39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240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41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42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43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45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46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247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248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249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50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251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252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53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254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255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256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257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258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259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260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261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262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263.xml><?xml version="1.0" encoding="utf-8"?>
<p:tagLst xmlns:p="http://schemas.openxmlformats.org/presentationml/2006/main">
  <p:tag name="KSO_WM_UNIT_INDEX" val="34"/>
  <p:tag name="KSO_WM_UNIT_TYPE" val="f"/>
  <p:tag name="KSO_WM_UNIT_SUBTYPE" val="a"/>
  <p:tag name="KSO_WM_BEAUTIFY_FLAG" val="#wm#"/>
</p:tagLst>
</file>

<file path=ppt/tags/tag26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65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266.xml><?xml version="1.0" encoding="utf-8"?>
<p:tagLst xmlns:p="http://schemas.openxmlformats.org/presentationml/2006/main">
  <p:tag name="KSO_WM_UNIT_INDEX" val="36"/>
  <p:tag name="KSO_WM_UNIT_TYPE" val="f"/>
  <p:tag name="KSO_WM_UNIT_SUBTYPE" val="a"/>
  <p:tag name="KSO_WM_BEAUTIFY_FLAG" val="#wm#"/>
</p:tagLst>
</file>

<file path=ppt/tags/tag267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268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269.xml><?xml version="1.0" encoding="utf-8"?>
<p:tagLst xmlns:p="http://schemas.openxmlformats.org/presentationml/2006/main">
  <p:tag name="KSO_WM_UNIT_INDEX" val="39"/>
  <p:tag name="KSO_WM_UNIT_TYPE" val="f"/>
  <p:tag name="KSO_WM_UNIT_SUBTYPE" val="a"/>
  <p:tag name="KSO_WM_BEAUTIFY_FLAG" val="#wm#"/>
</p:tagLst>
</file>

<file path=ppt/tags/tag270.xml><?xml version="1.0" encoding="utf-8"?>
<p:tagLst xmlns:p="http://schemas.openxmlformats.org/presentationml/2006/main">
  <p:tag name="KSO_WM_UNIT_INDEX" val="40"/>
  <p:tag name="KSO_WM_UNIT_TYPE" val="f"/>
  <p:tag name="KSO_WM_UNIT_SUBTYPE" val="a"/>
  <p:tag name="KSO_WM_BEAUTIFY_FLAG" val="#wm#"/>
</p:tagLst>
</file>

<file path=ppt/tags/tag271.xml><?xml version="1.0" encoding="utf-8"?>
<p:tagLst xmlns:p="http://schemas.openxmlformats.org/presentationml/2006/main">
  <p:tag name="KSO_WM_UNIT_INDEX" val="41"/>
  <p:tag name="KSO_WM_UNIT_TYPE" val="f"/>
  <p:tag name="KSO_WM_UNIT_SUBTYPE" val="a"/>
  <p:tag name="KSO_WM_BEAUTIFY_FLAG" val="#wm#"/>
</p:tagLst>
</file>

<file path=ppt/tags/tag272.xml><?xml version="1.0" encoding="utf-8"?>
<p:tagLst xmlns:p="http://schemas.openxmlformats.org/presentationml/2006/main">
  <p:tag name="KSO_WM_UNIT_INDEX" val="42"/>
  <p:tag name="KSO_WM_UNIT_TYPE" val="f"/>
  <p:tag name="KSO_WM_UNIT_SUBTYPE" val="a"/>
  <p:tag name="KSO_WM_BEAUTIFY_FLAG" val="#wm#"/>
</p:tagLst>
</file>

<file path=ppt/tags/tag273.xml><?xml version="1.0" encoding="utf-8"?>
<p:tagLst xmlns:p="http://schemas.openxmlformats.org/presentationml/2006/main">
  <p:tag name="KSO_WM_UNIT_INDEX" val="43"/>
  <p:tag name="KSO_WM_UNIT_TYPE" val="f"/>
  <p:tag name="KSO_WM_UNIT_SUBTYPE" val="a"/>
  <p:tag name="KSO_WM_BEAUTIFY_FLAG" val="#wm#"/>
</p:tagLst>
</file>

<file path=ppt/tags/tag274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275.xml><?xml version="1.0" encoding="utf-8"?>
<p:tagLst xmlns:p="http://schemas.openxmlformats.org/presentationml/2006/main">
  <p:tag name="KSO_WM_UNIT_INDEX" val="44"/>
  <p:tag name="KSO_WM_UNIT_TYPE" val="f"/>
  <p:tag name="KSO_WM_UNIT_SUBTYPE" val="a"/>
  <p:tag name="KSO_WM_BEAUTIFY_FLAG" val="#wm#"/>
</p:tagLst>
</file>

<file path=ppt/tags/tag276.xml><?xml version="1.0" encoding="utf-8"?>
<p:tagLst xmlns:p="http://schemas.openxmlformats.org/presentationml/2006/main">
  <p:tag name="KSO_WM_UNIT_INDEX" val="45"/>
  <p:tag name="KSO_WM_UNIT_TYPE" val="f"/>
  <p:tag name="KSO_WM_UNIT_SUBTYPE" val="a"/>
  <p:tag name="KSO_WM_BEAUTIFY_FLAG" val="#wm#"/>
</p:tagLst>
</file>

<file path=ppt/tags/tag277.xml><?xml version="1.0" encoding="utf-8"?>
<p:tagLst xmlns:p="http://schemas.openxmlformats.org/presentationml/2006/main">
  <p:tag name="KSO_WM_UNIT_INDEX" val="35"/>
  <p:tag name="KSO_WM_UNIT_TYPE" val="f"/>
  <p:tag name="KSO_WM_UNIT_SUBTYPE" val="a"/>
  <p:tag name="KSO_WM_BEAUTIFY_FLAG" val="#wm#"/>
</p:tagLst>
</file>

<file path=ppt/tags/tag278.xml><?xml version="1.0" encoding="utf-8"?>
<p:tagLst xmlns:p="http://schemas.openxmlformats.org/presentationml/2006/main">
  <p:tag name="KSO_WM_UNIT_TEXT" val="Feature Engineering — 4 Groups + Day 2 Enhancemen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CONTENT_GROUP_TYPE" val="titlestyle"/>
</p:tagLst>
</file>

<file path=ppt/tags/tag279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1">
      <a:dk1>
        <a:srgbClr val="000000"/>
      </a:dk1>
      <a:lt1>
        <a:srgbClr val="FFFFFF"/>
      </a:lt1>
      <a:dk2>
        <a:srgbClr val="260C60"/>
      </a:dk2>
      <a:lt2>
        <a:srgbClr val="D7E3FA"/>
      </a:lt2>
      <a:accent1>
        <a:srgbClr val="6124E5"/>
      </a:accent1>
      <a:accent2>
        <a:srgbClr val="4E4DE7"/>
      </a:accent2>
      <a:accent3>
        <a:srgbClr val="3A76E9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4038</Words>
  <Application>WPS Presentation</Application>
  <PresentationFormat>On-screen Show (16:9)</PresentationFormat>
  <Paragraphs>264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Calibri Light</vt:lpstr>
      <vt:lpstr>江城圆体 400W</vt:lpstr>
      <vt:lpstr>Mali SemiBold</vt:lpstr>
      <vt:lpstr>Mali</vt:lpstr>
      <vt:lpstr>Manrope ExtraBold</vt:lpstr>
      <vt:lpstr>Lato</vt:lpstr>
      <vt:lpstr>Game of Thrones</vt:lpstr>
      <vt:lpstr>Wingdings</vt:lpstr>
      <vt:lpstr>Inter Bold</vt:lpstr>
      <vt:lpstr>Inter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Prescription Adherence Risk Modelling</dc:title>
  <dc:creator>PptxGenJS</dc:creator>
  <dc:subject>PptxGenJS Presentation</dc:subject>
  <cp:lastModifiedBy>Kaustubh Kaushal</cp:lastModifiedBy>
  <cp:revision>2</cp:revision>
  <dcterms:created xsi:type="dcterms:W3CDTF">2026-03-31T10:35:00Z</dcterms:created>
  <dcterms:modified xsi:type="dcterms:W3CDTF">2026-03-31T12:19:28Z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7B386F77CE134669AB0405FC3CCFCD7E_12</vt:lpwstr>
  </property>
</Properties>
</file>